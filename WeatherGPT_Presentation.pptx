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51D325D9-520F-498C-9090-A16CC597FDE5}" type="datetimeFigureOut">
              <a:t>9/30/2026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47C31E90-396E-4B45-88F7-E65F2E0A39F4}" type="slidenum">
              <a:t>‹#›</a:t>
            </a:fld>
            <a:endParaRPr lang="en-US"/>
          </a:p>
        </p:txBody>
      </p:sp>
    </p:spTree>
    <p:extLst>
      <p:ext uri="{BB962C8B-B14F-4D97-AF65-F5344CB8AC3E}">
        <p14:creationId xmlns:p14="http://schemas.microsoft.com/office/powerpoint/2010/main" val="1717106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8BDF8"/>
          </a:solidFill>
          <a:ln/>
        </p:spPr>
        <p:txBody>
          <a:bodyPr/>
          <a:lstStyle/>
          <a:p>
            <a:endParaRPr/>
          </a:p>
        </p:txBody>
      </p:sp>
      <p:sp>
        <p:nvSpPr>
          <p:cNvPr id="3" name="Text 1"/>
          <p:cNvSpPr/>
          <p:nvPr/>
        </p:nvSpPr>
        <p:spPr>
          <a:xfrm>
            <a:off x="731520" y="1645920"/>
            <a:ext cx="10698480" cy="64008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WEATHERGPT</a:t>
            </a:r>
            <a:endParaRPr lang="en-US" sz="4000" dirty="0"/>
          </a:p>
        </p:txBody>
      </p:sp>
      <p:sp>
        <p:nvSpPr>
          <p:cNvPr id="4" name="Text 2"/>
          <p:cNvSpPr/>
          <p:nvPr/>
        </p:nvSpPr>
        <p:spPr>
          <a:xfrm>
            <a:off x="731520" y="2331720"/>
            <a:ext cx="10698480" cy="411480"/>
          </a:xfrm>
          <a:prstGeom prst="rect">
            <a:avLst/>
          </a:prstGeom>
          <a:noFill/>
          <a:ln/>
        </p:spPr>
        <p:txBody>
          <a:bodyPr wrap="square" lIns="0" tIns="0" rIns="0" bIns="0" rtlCol="0" anchor="ctr"/>
          <a:lstStyle/>
          <a:p>
            <a:pPr marL="0" indent="0">
              <a:buNone/>
            </a:pPr>
            <a:r>
              <a:rPr lang="en-US" sz="2000" dirty="0">
                <a:solidFill>
                  <a:srgbClr val="38BDF8"/>
                </a:solidFill>
                <a:latin typeface="Calibri" pitchFamily="34" charset="0"/>
                <a:ea typeface="Calibri" pitchFamily="34" charset="-122"/>
                <a:cs typeface="Calibri" pitchFamily="34" charset="-120"/>
              </a:rPr>
              <a:t>AI-Powered Weather Information and Intelligence System</a:t>
            </a:r>
            <a:endParaRPr lang="en-US" sz="2000" dirty="0"/>
          </a:p>
        </p:txBody>
      </p:sp>
      <p:sp>
        <p:nvSpPr>
          <p:cNvPr id="5" name="Shape 3"/>
          <p:cNvSpPr/>
          <p:nvPr/>
        </p:nvSpPr>
        <p:spPr>
          <a:xfrm>
            <a:off x="731520" y="2926080"/>
            <a:ext cx="2286000" cy="54864"/>
          </a:xfrm>
          <a:prstGeom prst="rect">
            <a:avLst/>
          </a:prstGeom>
          <a:solidFill>
            <a:srgbClr val="38BDF8"/>
          </a:solidFill>
          <a:ln/>
        </p:spPr>
        <p:txBody>
          <a:bodyPr/>
          <a:lstStyle/>
          <a:p>
            <a:endParaRPr/>
          </a:p>
        </p:txBody>
      </p:sp>
      <p:sp>
        <p:nvSpPr>
          <p:cNvPr id="6" name="Text 4"/>
          <p:cNvSpPr/>
          <p:nvPr/>
        </p:nvSpPr>
        <p:spPr>
          <a:xfrm>
            <a:off x="731520" y="3200400"/>
            <a:ext cx="10698480" cy="320040"/>
          </a:xfrm>
          <a:prstGeom prst="rect">
            <a:avLst/>
          </a:prstGeom>
          <a:noFill/>
          <a:ln/>
        </p:spPr>
        <p:txBody>
          <a:bodyPr wrap="square" lIns="0" tIns="0" rIns="0" bIns="0" rtlCol="0" anchor="ctr"/>
          <a:lstStyle/>
          <a:p>
            <a:pPr marL="0" indent="0">
              <a:buNone/>
            </a:pPr>
            <a:r>
              <a:rPr lang="en-US" sz="1600" dirty="0">
                <a:solidFill>
                  <a:srgbClr val="E2E8F0"/>
                </a:solidFill>
                <a:latin typeface="Calibri" pitchFamily="34" charset="0"/>
                <a:ea typeface="Calibri" pitchFamily="34" charset="-122"/>
                <a:cs typeface="Calibri" pitchFamily="34" charset="-120"/>
              </a:rPr>
              <a:t>Project Presentation</a:t>
            </a:r>
            <a:endParaRPr lang="en-US" sz="1600" dirty="0"/>
          </a:p>
        </p:txBody>
      </p:sp>
      <p:sp>
        <p:nvSpPr>
          <p:cNvPr id="7" name="TextBox 6"/>
          <p:cNvSpPr txBox="1"/>
          <p:nvPr/>
        </p:nvSpPr>
        <p:spPr>
          <a:xfrm>
            <a:off x="731520" y="3794760"/>
            <a:ext cx="10515600" cy="320040"/>
          </a:xfrm>
          <a:prstGeom prst="rect">
            <a:avLst/>
          </a:prstGeom>
          <a:noFill/>
        </p:spPr>
        <p:txBody>
          <a:bodyPr wrap="square">
            <a:spAutoFit/>
          </a:bodyPr>
          <a:lstStyle/>
          <a:p>
            <a:r>
              <a:rPr sz="1500">
                <a:solidFill>
                  <a:srgbClr val="94A3B8"/>
                </a:solidFill>
                <a:latin typeface="Calibri"/>
              </a:rPr>
              <a:t>Student Name(s):  Ayush C N  ·  Shetty Vaishnavi Suresh</a:t>
            </a:r>
          </a:p>
        </p:txBody>
      </p:sp>
      <p:sp>
        <p:nvSpPr>
          <p:cNvPr id="8" name="TextBox 7"/>
          <p:cNvSpPr txBox="1"/>
          <p:nvPr/>
        </p:nvSpPr>
        <p:spPr>
          <a:xfrm>
            <a:off x="731520" y="4142232"/>
            <a:ext cx="10515600" cy="320040"/>
          </a:xfrm>
          <a:prstGeom prst="rect">
            <a:avLst/>
          </a:prstGeom>
          <a:noFill/>
        </p:spPr>
        <p:txBody>
          <a:bodyPr wrap="square">
            <a:spAutoFit/>
          </a:bodyPr>
          <a:lstStyle/>
          <a:p>
            <a:r>
              <a:rPr sz="1500">
                <a:solidFill>
                  <a:srgbClr val="94A3B8"/>
                </a:solidFill>
                <a:latin typeface="Calibri"/>
              </a:rPr>
              <a:t>USN:  4AL23CD010  ·  4AL23CD046</a:t>
            </a:r>
          </a:p>
        </p:txBody>
      </p:sp>
      <p:sp>
        <p:nvSpPr>
          <p:cNvPr id="9" name="TextBox 8"/>
          <p:cNvSpPr txBox="1"/>
          <p:nvPr/>
        </p:nvSpPr>
        <p:spPr>
          <a:xfrm>
            <a:off x="731520" y="4489704"/>
            <a:ext cx="10515600" cy="320040"/>
          </a:xfrm>
          <a:prstGeom prst="rect">
            <a:avLst/>
          </a:prstGeom>
          <a:noFill/>
        </p:spPr>
        <p:txBody>
          <a:bodyPr wrap="square">
            <a:spAutoFit/>
          </a:bodyPr>
          <a:lstStyle/>
          <a:p>
            <a:r>
              <a:rPr sz="1500">
                <a:solidFill>
                  <a:srgbClr val="94A3B8"/>
                </a:solidFill>
                <a:latin typeface="Calibri"/>
              </a:rPr>
              <a:t>Department:  Computer Science and Engineering (Data Science)</a:t>
            </a:r>
          </a:p>
        </p:txBody>
      </p:sp>
      <p:sp>
        <p:nvSpPr>
          <p:cNvPr id="10" name="TextBox 9"/>
          <p:cNvSpPr txBox="1"/>
          <p:nvPr/>
        </p:nvSpPr>
        <p:spPr>
          <a:xfrm>
            <a:off x="731520" y="4837176"/>
            <a:ext cx="10515600" cy="320040"/>
          </a:xfrm>
          <a:prstGeom prst="rect">
            <a:avLst/>
          </a:prstGeom>
          <a:noFill/>
        </p:spPr>
        <p:txBody>
          <a:bodyPr wrap="square">
            <a:spAutoFit/>
          </a:bodyPr>
          <a:lstStyle/>
          <a:p>
            <a:r>
              <a:rPr sz="1500">
                <a:solidFill>
                  <a:srgbClr val="94A3B8"/>
                </a:solidFill>
                <a:latin typeface="Calibri"/>
              </a:rPr>
              <a:t>College:  Alva's Institute of Engineering and Technology</a:t>
            </a:r>
          </a:p>
        </p:txBody>
      </p:sp>
      <p:sp>
        <p:nvSpPr>
          <p:cNvPr id="11" name="TextBox 10"/>
          <p:cNvSpPr txBox="1"/>
          <p:nvPr/>
        </p:nvSpPr>
        <p:spPr>
          <a:xfrm>
            <a:off x="731520" y="5184648"/>
            <a:ext cx="10515600" cy="320040"/>
          </a:xfrm>
          <a:prstGeom prst="rect">
            <a:avLst/>
          </a:prstGeom>
          <a:noFill/>
        </p:spPr>
        <p:txBody>
          <a:bodyPr wrap="square">
            <a:spAutoFit/>
          </a:bodyPr>
          <a:lstStyle/>
          <a:p>
            <a:r>
              <a:rPr sz="1500">
                <a:solidFill>
                  <a:srgbClr val="94A3B8"/>
                </a:solidFill>
                <a:latin typeface="Calibri"/>
              </a:rPr>
              <a:t>Academic Year:  2026–2027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6492240"/>
            <a:ext cx="8229600" cy="22860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WeatherGPT  |  Academic Year 2026–2027</a:t>
            </a:r>
            <a:endParaRPr lang="en-US" sz="1100" dirty="0"/>
          </a:p>
        </p:txBody>
      </p:sp>
      <p:sp>
        <p:nvSpPr>
          <p:cNvPr id="3" name="Text 1"/>
          <p:cNvSpPr/>
          <p:nvPr/>
        </p:nvSpPr>
        <p:spPr>
          <a:xfrm>
            <a:off x="10515600" y="6492240"/>
            <a:ext cx="1188720" cy="228600"/>
          </a:xfrm>
          <a:prstGeom prst="rect">
            <a:avLst/>
          </a:prstGeom>
          <a:noFill/>
          <a:ln/>
        </p:spPr>
        <p:txBody>
          <a:bodyPr wrap="square" lIns="0" tIns="0" rIns="0" bIns="0" rtlCol="0" anchor="ctr"/>
          <a:lstStyle/>
          <a:p>
            <a:pPr marL="0" indent="0" algn="r">
              <a:buNone/>
            </a:pPr>
            <a:r>
              <a:rPr lang="en-US" sz="1100" dirty="0">
                <a:solidFill>
                  <a:srgbClr val="94A3B8"/>
                </a:solidFill>
                <a:latin typeface="Calibri" pitchFamily="34" charset="0"/>
                <a:ea typeface="Calibri" pitchFamily="34" charset="-122"/>
                <a:cs typeface="Calibri" pitchFamily="34" charset="-120"/>
              </a:rPr>
              <a:t>2 / 8</a:t>
            </a:r>
            <a:endParaRPr lang="en-US" sz="1100" dirty="0"/>
          </a:p>
        </p:txBody>
      </p:sp>
      <p:sp>
        <p:nvSpPr>
          <p:cNvPr id="4" name="Text 2"/>
          <p:cNvSpPr/>
          <p:nvPr/>
        </p:nvSpPr>
        <p:spPr>
          <a:xfrm>
            <a:off x="457200" y="274320"/>
            <a:ext cx="10972800" cy="4572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Problem Statement</a:t>
            </a:r>
            <a:endParaRPr lang="en-US" sz="2800" dirty="0"/>
          </a:p>
        </p:txBody>
      </p:sp>
      <p:sp>
        <p:nvSpPr>
          <p:cNvPr id="5" name="Shape 3"/>
          <p:cNvSpPr/>
          <p:nvPr/>
        </p:nvSpPr>
        <p:spPr>
          <a:xfrm>
            <a:off x="457200" y="914400"/>
            <a:ext cx="11247120" cy="2194560"/>
          </a:xfrm>
          <a:prstGeom prst="roundRect">
            <a:avLst>
              <a:gd name="adj" fmla="val 4167"/>
            </a:avLst>
          </a:prstGeom>
          <a:solidFill>
            <a:srgbClr val="1E293B"/>
          </a:solidFill>
          <a:ln/>
        </p:spPr>
      </p:sp>
      <p:sp>
        <p:nvSpPr>
          <p:cNvPr id="6" name="Text 4"/>
          <p:cNvSpPr/>
          <p:nvPr/>
        </p:nvSpPr>
        <p:spPr>
          <a:xfrm>
            <a:off x="777240" y="1143000"/>
            <a:ext cx="10607040" cy="914400"/>
          </a:xfrm>
          <a:prstGeom prst="rect">
            <a:avLst/>
          </a:prstGeom>
          <a:noFill/>
          <a:ln/>
        </p:spPr>
        <p:txBody>
          <a:bodyPr wrap="square" lIns="0" tIns="0" rIns="0" bIns="0" rtlCol="0" anchor="ctr"/>
          <a:lstStyle/>
          <a:p>
            <a:pPr marL="0" indent="0">
              <a:buNone/>
            </a:pPr>
            <a:r>
              <a:rPr lang="en-US" sz="1600" dirty="0">
                <a:solidFill>
                  <a:srgbClr val="E2E8F0"/>
                </a:solidFill>
                <a:latin typeface="Calibri" pitchFamily="34" charset="0"/>
                <a:ea typeface="Calibri" pitchFamily="34" charset="-122"/>
                <a:cs typeface="Calibri" pitchFamily="34" charset="-120"/>
              </a:rPr>
              <a:t>Weather information is often distributed across multiple portals, bulletins, satellite products, and forecast systems. This makes it difficult for common users, researchers, disaster managers, and agencies to quickly obtain accurate and actionable insights.</a:t>
            </a:r>
            <a:endParaRPr lang="en-US" sz="1600" dirty="0"/>
          </a:p>
        </p:txBody>
      </p:sp>
      <p:sp>
        <p:nvSpPr>
          <p:cNvPr id="7" name="Text 5"/>
          <p:cNvSpPr/>
          <p:nvPr/>
        </p:nvSpPr>
        <p:spPr>
          <a:xfrm>
            <a:off x="777240" y="2148840"/>
            <a:ext cx="10607040" cy="731520"/>
          </a:xfrm>
          <a:prstGeom prst="rect">
            <a:avLst/>
          </a:prstGeom>
          <a:noFill/>
          <a:ln/>
        </p:spPr>
        <p:txBody>
          <a:bodyPr wrap="square" lIns="0" tIns="0" rIns="0" bIns="0" rtlCol="0" anchor="ctr"/>
          <a:lstStyle/>
          <a:p>
            <a:pPr marL="0" indent="0">
              <a:buNone/>
            </a:pPr>
            <a:r>
              <a:rPr lang="en-US" sz="1600" dirty="0">
                <a:solidFill>
                  <a:srgbClr val="E2E8F0"/>
                </a:solidFill>
                <a:latin typeface="Calibri" pitchFamily="34" charset="0"/>
                <a:ea typeface="Calibri" pitchFamily="34" charset="-122"/>
                <a:cs typeface="Calibri" pitchFamily="34" charset="-120"/>
              </a:rPr>
              <a:t>There is a clear need for an intelligent conversational platform that provides real-time weather information, forecasts, warnings, and decision support in natural language.</a:t>
            </a:r>
            <a:endParaRPr lang="en-US" sz="1600" dirty="0"/>
          </a:p>
        </p:txBody>
      </p:sp>
      <p:sp>
        <p:nvSpPr>
          <p:cNvPr id="8" name="Text 6"/>
          <p:cNvSpPr/>
          <p:nvPr/>
        </p:nvSpPr>
        <p:spPr>
          <a:xfrm>
            <a:off x="457200" y="3337560"/>
            <a:ext cx="10972800" cy="320040"/>
          </a:xfrm>
          <a:prstGeom prst="rect">
            <a:avLst/>
          </a:prstGeom>
          <a:noFill/>
          <a:ln/>
        </p:spPr>
        <p:txBody>
          <a:bodyPr wrap="square" lIns="0" tIns="0" rIns="0" bIns="0" rtlCol="0" anchor="ctr"/>
          <a:lstStyle/>
          <a:p>
            <a:pPr marL="0" indent="0">
              <a:buNone/>
            </a:pPr>
            <a:r>
              <a:rPr lang="en-US" sz="1400" b="1" dirty="0">
                <a:solidFill>
                  <a:srgbClr val="38BDF8"/>
                </a:solidFill>
                <a:latin typeface="Calibri" pitchFamily="34" charset="0"/>
                <a:ea typeface="Calibri" pitchFamily="34" charset="-122"/>
                <a:cs typeface="Calibri" pitchFamily="34" charset="-120"/>
              </a:rPr>
              <a:t>KEY CHALLENGES</a:t>
            </a:r>
            <a:endParaRPr lang="en-US" sz="1400" dirty="0"/>
          </a:p>
        </p:txBody>
      </p:sp>
      <p:sp>
        <p:nvSpPr>
          <p:cNvPr id="9" name="Shape 7"/>
          <p:cNvSpPr/>
          <p:nvPr/>
        </p:nvSpPr>
        <p:spPr>
          <a:xfrm>
            <a:off x="457200" y="3794760"/>
            <a:ext cx="2743200" cy="2103120"/>
          </a:xfrm>
          <a:prstGeom prst="roundRect">
            <a:avLst>
              <a:gd name="adj" fmla="val 3478"/>
            </a:avLst>
          </a:prstGeom>
          <a:solidFill>
            <a:srgbClr val="1E293B"/>
          </a:solidFill>
          <a:ln/>
        </p:spPr>
      </p:sp>
      <p:sp>
        <p:nvSpPr>
          <p:cNvPr id="10" name="Text 8"/>
          <p:cNvSpPr/>
          <p:nvPr/>
        </p:nvSpPr>
        <p:spPr>
          <a:xfrm>
            <a:off x="640080" y="4023360"/>
            <a:ext cx="2377440" cy="457200"/>
          </a:xfrm>
          <a:prstGeom prst="rect">
            <a:avLst/>
          </a:prstGeom>
          <a:noFill/>
          <a:ln/>
        </p:spPr>
        <p:txBody>
          <a:bodyPr wrap="square" lIns="0" tIns="0" rIns="0" bIns="0" rtlCol="0" anchor="ctr"/>
          <a:lstStyle/>
          <a:p>
            <a:pPr marL="0" indent="0">
              <a:buNone/>
            </a:pPr>
            <a:r>
              <a:rPr lang="en-US" sz="1500" b="1" dirty="0">
                <a:solidFill>
                  <a:srgbClr val="38BDF8"/>
                </a:solidFill>
                <a:latin typeface="Calibri" pitchFamily="34" charset="0"/>
                <a:ea typeface="Calibri" pitchFamily="34" charset="-122"/>
                <a:cs typeface="Calibri" pitchFamily="34" charset="-120"/>
              </a:rPr>
              <a:t>Scattered Sources</a:t>
            </a:r>
            <a:endParaRPr lang="en-US" sz="1500" dirty="0"/>
          </a:p>
        </p:txBody>
      </p:sp>
      <p:sp>
        <p:nvSpPr>
          <p:cNvPr id="11" name="Text 9"/>
          <p:cNvSpPr/>
          <p:nvPr/>
        </p:nvSpPr>
        <p:spPr>
          <a:xfrm>
            <a:off x="640080" y="4663440"/>
            <a:ext cx="2377440" cy="91440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Weather data spread across many portals and formats</a:t>
            </a:r>
            <a:endParaRPr lang="en-US" sz="1400" dirty="0"/>
          </a:p>
        </p:txBody>
      </p:sp>
      <p:sp>
        <p:nvSpPr>
          <p:cNvPr id="12" name="Shape 10"/>
          <p:cNvSpPr/>
          <p:nvPr/>
        </p:nvSpPr>
        <p:spPr>
          <a:xfrm>
            <a:off x="3337560" y="3794760"/>
            <a:ext cx="2743200" cy="2103120"/>
          </a:xfrm>
          <a:prstGeom prst="roundRect">
            <a:avLst>
              <a:gd name="adj" fmla="val 3478"/>
            </a:avLst>
          </a:prstGeom>
          <a:solidFill>
            <a:srgbClr val="1E293B"/>
          </a:solidFill>
          <a:ln/>
        </p:spPr>
      </p:sp>
      <p:sp>
        <p:nvSpPr>
          <p:cNvPr id="13" name="Text 11"/>
          <p:cNvSpPr/>
          <p:nvPr/>
        </p:nvSpPr>
        <p:spPr>
          <a:xfrm>
            <a:off x="3520440" y="4023360"/>
            <a:ext cx="2377440" cy="457200"/>
          </a:xfrm>
          <a:prstGeom prst="rect">
            <a:avLst/>
          </a:prstGeom>
          <a:noFill/>
          <a:ln/>
        </p:spPr>
        <p:txBody>
          <a:bodyPr wrap="square" lIns="0" tIns="0" rIns="0" bIns="0" rtlCol="0" anchor="ctr"/>
          <a:lstStyle/>
          <a:p>
            <a:pPr marL="0" indent="0">
              <a:buNone/>
            </a:pPr>
            <a:r>
              <a:rPr lang="en-US" sz="1500" b="1" dirty="0">
                <a:solidFill>
                  <a:srgbClr val="38BDF8"/>
                </a:solidFill>
                <a:latin typeface="Calibri" pitchFamily="34" charset="0"/>
                <a:ea typeface="Calibri" pitchFamily="34" charset="-122"/>
                <a:cs typeface="Calibri" pitchFamily="34" charset="-120"/>
              </a:rPr>
              <a:t>Complex Access</a:t>
            </a:r>
            <a:endParaRPr lang="en-US" sz="1500" dirty="0"/>
          </a:p>
        </p:txBody>
      </p:sp>
      <p:sp>
        <p:nvSpPr>
          <p:cNvPr id="14" name="Text 12"/>
          <p:cNvSpPr/>
          <p:nvPr/>
        </p:nvSpPr>
        <p:spPr>
          <a:xfrm>
            <a:off x="3520440" y="4663440"/>
            <a:ext cx="2377440" cy="91440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Difficult for non-experts to get quick insights</a:t>
            </a:r>
            <a:endParaRPr lang="en-US" sz="1400" dirty="0"/>
          </a:p>
        </p:txBody>
      </p:sp>
      <p:sp>
        <p:nvSpPr>
          <p:cNvPr id="15" name="Shape 13"/>
          <p:cNvSpPr/>
          <p:nvPr/>
        </p:nvSpPr>
        <p:spPr>
          <a:xfrm>
            <a:off x="6217920" y="3794760"/>
            <a:ext cx="2743200" cy="2103120"/>
          </a:xfrm>
          <a:prstGeom prst="roundRect">
            <a:avLst>
              <a:gd name="adj" fmla="val 3478"/>
            </a:avLst>
          </a:prstGeom>
          <a:solidFill>
            <a:srgbClr val="1E293B"/>
          </a:solidFill>
          <a:ln/>
        </p:spPr>
      </p:sp>
      <p:sp>
        <p:nvSpPr>
          <p:cNvPr id="16" name="Text 14"/>
          <p:cNvSpPr/>
          <p:nvPr/>
        </p:nvSpPr>
        <p:spPr>
          <a:xfrm>
            <a:off x="6400800" y="4023360"/>
            <a:ext cx="2377440" cy="457200"/>
          </a:xfrm>
          <a:prstGeom prst="rect">
            <a:avLst/>
          </a:prstGeom>
          <a:noFill/>
          <a:ln/>
        </p:spPr>
        <p:txBody>
          <a:bodyPr wrap="square" lIns="0" tIns="0" rIns="0" bIns="0" rtlCol="0" anchor="ctr"/>
          <a:lstStyle/>
          <a:p>
            <a:pPr marL="0" indent="0">
              <a:buNone/>
            </a:pPr>
            <a:r>
              <a:rPr lang="en-US" sz="1500" b="1" dirty="0">
                <a:solidFill>
                  <a:srgbClr val="38BDF8"/>
                </a:solidFill>
                <a:latin typeface="Calibri" pitchFamily="34" charset="0"/>
                <a:ea typeface="Calibri" pitchFamily="34" charset="-122"/>
                <a:cs typeface="Calibri" pitchFamily="34" charset="-120"/>
              </a:rPr>
              <a:t>No Conversation</a:t>
            </a:r>
            <a:endParaRPr lang="en-US" sz="1500" dirty="0"/>
          </a:p>
        </p:txBody>
      </p:sp>
      <p:sp>
        <p:nvSpPr>
          <p:cNvPr id="17" name="Text 15"/>
          <p:cNvSpPr/>
          <p:nvPr/>
        </p:nvSpPr>
        <p:spPr>
          <a:xfrm>
            <a:off x="6400800" y="4663440"/>
            <a:ext cx="2377440" cy="91440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Most systems lack natural-language interaction</a:t>
            </a:r>
            <a:endParaRPr lang="en-US" sz="1400" dirty="0"/>
          </a:p>
        </p:txBody>
      </p:sp>
      <p:sp>
        <p:nvSpPr>
          <p:cNvPr id="18" name="Shape 16"/>
          <p:cNvSpPr/>
          <p:nvPr/>
        </p:nvSpPr>
        <p:spPr>
          <a:xfrm>
            <a:off x="9098280" y="3794760"/>
            <a:ext cx="2743200" cy="2103120"/>
          </a:xfrm>
          <a:prstGeom prst="roundRect">
            <a:avLst>
              <a:gd name="adj" fmla="val 3478"/>
            </a:avLst>
          </a:prstGeom>
          <a:solidFill>
            <a:srgbClr val="1E293B"/>
          </a:solidFill>
          <a:ln/>
        </p:spPr>
      </p:sp>
      <p:sp>
        <p:nvSpPr>
          <p:cNvPr id="19" name="Text 17"/>
          <p:cNvSpPr/>
          <p:nvPr/>
        </p:nvSpPr>
        <p:spPr>
          <a:xfrm>
            <a:off x="9281160" y="4023360"/>
            <a:ext cx="2377440" cy="457200"/>
          </a:xfrm>
          <a:prstGeom prst="rect">
            <a:avLst/>
          </a:prstGeom>
          <a:noFill/>
          <a:ln/>
        </p:spPr>
        <p:txBody>
          <a:bodyPr wrap="square" lIns="0" tIns="0" rIns="0" bIns="0" rtlCol="0" anchor="ctr"/>
          <a:lstStyle/>
          <a:p>
            <a:pPr marL="0" indent="0">
              <a:buNone/>
            </a:pPr>
            <a:r>
              <a:rPr lang="en-US" sz="1500" b="1" dirty="0">
                <a:solidFill>
                  <a:srgbClr val="38BDF8"/>
                </a:solidFill>
                <a:latin typeface="Calibri" pitchFamily="34" charset="0"/>
                <a:ea typeface="Calibri" pitchFamily="34" charset="-122"/>
                <a:cs typeface="Calibri" pitchFamily="34" charset="-120"/>
              </a:rPr>
              <a:t>Limited Context</a:t>
            </a:r>
            <a:endParaRPr lang="en-US" sz="1500" dirty="0"/>
          </a:p>
        </p:txBody>
      </p:sp>
      <p:sp>
        <p:nvSpPr>
          <p:cNvPr id="20" name="Text 18"/>
          <p:cNvSpPr/>
          <p:nvPr/>
        </p:nvSpPr>
        <p:spPr>
          <a:xfrm>
            <a:off x="9281160" y="4663440"/>
            <a:ext cx="2377440" cy="91440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Few platforms combine forecasts, ML &amp; AI chat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6492240"/>
            <a:ext cx="8229600" cy="22860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WeatherGPT  |  Academic Year 2026–2027</a:t>
            </a:r>
            <a:endParaRPr lang="en-US" sz="1100" dirty="0"/>
          </a:p>
        </p:txBody>
      </p:sp>
      <p:sp>
        <p:nvSpPr>
          <p:cNvPr id="3" name="Text 1"/>
          <p:cNvSpPr/>
          <p:nvPr/>
        </p:nvSpPr>
        <p:spPr>
          <a:xfrm>
            <a:off x="10515600" y="6492240"/>
            <a:ext cx="1188720" cy="228600"/>
          </a:xfrm>
          <a:prstGeom prst="rect">
            <a:avLst/>
          </a:prstGeom>
          <a:noFill/>
          <a:ln/>
        </p:spPr>
        <p:txBody>
          <a:bodyPr wrap="square" lIns="0" tIns="0" rIns="0" bIns="0" rtlCol="0" anchor="ctr"/>
          <a:lstStyle/>
          <a:p>
            <a:pPr marL="0" indent="0" algn="r">
              <a:buNone/>
            </a:pPr>
            <a:r>
              <a:rPr lang="en-US" sz="1100" dirty="0">
                <a:solidFill>
                  <a:srgbClr val="94A3B8"/>
                </a:solidFill>
                <a:latin typeface="Calibri" pitchFamily="34" charset="0"/>
                <a:ea typeface="Calibri" pitchFamily="34" charset="-122"/>
                <a:cs typeface="Calibri" pitchFamily="34" charset="-120"/>
              </a:rPr>
              <a:t>3 / 8</a:t>
            </a:r>
            <a:endParaRPr lang="en-US" sz="1100" dirty="0"/>
          </a:p>
        </p:txBody>
      </p:sp>
      <p:sp>
        <p:nvSpPr>
          <p:cNvPr id="4" name="Text 2"/>
          <p:cNvSpPr/>
          <p:nvPr/>
        </p:nvSpPr>
        <p:spPr>
          <a:xfrm>
            <a:off x="457200" y="274320"/>
            <a:ext cx="10972800" cy="4572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Objectives</a:t>
            </a:r>
            <a:endParaRPr lang="en-US" sz="2800" dirty="0"/>
          </a:p>
        </p:txBody>
      </p:sp>
      <p:sp>
        <p:nvSpPr>
          <p:cNvPr id="5" name="Text 3"/>
          <p:cNvSpPr/>
          <p:nvPr/>
        </p:nvSpPr>
        <p:spPr>
          <a:xfrm>
            <a:off x="457200" y="868680"/>
            <a:ext cx="11247120" cy="64008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Develop an AI-powered platform that integrates meteorological data, forecasting models, and conversational intelligence to provide accurate, contextual weather information.</a:t>
            </a:r>
            <a:endParaRPr lang="en-US" sz="1600" dirty="0"/>
          </a:p>
        </p:txBody>
      </p:sp>
      <p:sp>
        <p:nvSpPr>
          <p:cNvPr id="6" name="Shape 4"/>
          <p:cNvSpPr/>
          <p:nvPr/>
        </p:nvSpPr>
        <p:spPr>
          <a:xfrm>
            <a:off x="457200" y="1691640"/>
            <a:ext cx="5623560" cy="1325880"/>
          </a:xfrm>
          <a:prstGeom prst="roundRect">
            <a:avLst>
              <a:gd name="adj" fmla="val 5517"/>
            </a:avLst>
          </a:prstGeom>
          <a:solidFill>
            <a:srgbClr val="1E293B"/>
          </a:solidFill>
          <a:ln/>
        </p:spPr>
      </p:sp>
      <p:sp>
        <p:nvSpPr>
          <p:cNvPr id="7" name="Text 5"/>
          <p:cNvSpPr/>
          <p:nvPr/>
        </p:nvSpPr>
        <p:spPr>
          <a:xfrm>
            <a:off x="685800" y="1874520"/>
            <a:ext cx="640080" cy="32004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01</a:t>
            </a:r>
            <a:endParaRPr lang="en-US" sz="1600" dirty="0"/>
          </a:p>
        </p:txBody>
      </p:sp>
      <p:sp>
        <p:nvSpPr>
          <p:cNvPr id="8" name="Text 6"/>
          <p:cNvSpPr/>
          <p:nvPr/>
        </p:nvSpPr>
        <p:spPr>
          <a:xfrm>
            <a:off x="1371600" y="1874520"/>
            <a:ext cx="448056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Real-time Weather Access</a:t>
            </a:r>
            <a:endParaRPr lang="en-US" sz="1500" dirty="0"/>
          </a:p>
        </p:txBody>
      </p:sp>
      <p:sp>
        <p:nvSpPr>
          <p:cNvPr id="9" name="Text 7"/>
          <p:cNvSpPr/>
          <p:nvPr/>
        </p:nvSpPr>
        <p:spPr>
          <a:xfrm>
            <a:off x="685800" y="2331720"/>
            <a:ext cx="5166360" cy="5029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Retrieve and display current weather conditions for any location using reliable weather APIs.</a:t>
            </a:r>
            <a:endParaRPr lang="en-US" sz="1300" dirty="0"/>
          </a:p>
        </p:txBody>
      </p:sp>
      <p:sp>
        <p:nvSpPr>
          <p:cNvPr id="10" name="Shape 8"/>
          <p:cNvSpPr/>
          <p:nvPr/>
        </p:nvSpPr>
        <p:spPr>
          <a:xfrm>
            <a:off x="6309360" y="1691640"/>
            <a:ext cx="5623560" cy="1325880"/>
          </a:xfrm>
          <a:prstGeom prst="roundRect">
            <a:avLst>
              <a:gd name="adj" fmla="val 5517"/>
            </a:avLst>
          </a:prstGeom>
          <a:solidFill>
            <a:srgbClr val="1E293B"/>
          </a:solidFill>
          <a:ln/>
        </p:spPr>
      </p:sp>
      <p:sp>
        <p:nvSpPr>
          <p:cNvPr id="11" name="Text 9"/>
          <p:cNvSpPr/>
          <p:nvPr/>
        </p:nvSpPr>
        <p:spPr>
          <a:xfrm>
            <a:off x="6537960" y="1874520"/>
            <a:ext cx="640080" cy="32004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02</a:t>
            </a:r>
            <a:endParaRPr lang="en-US" sz="1600" dirty="0"/>
          </a:p>
        </p:txBody>
      </p:sp>
      <p:sp>
        <p:nvSpPr>
          <p:cNvPr id="12" name="Text 10"/>
          <p:cNvSpPr/>
          <p:nvPr/>
        </p:nvSpPr>
        <p:spPr>
          <a:xfrm>
            <a:off x="7223760" y="1874520"/>
            <a:ext cx="448056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Natural Language Queries</a:t>
            </a:r>
            <a:endParaRPr lang="en-US" sz="1500" dirty="0"/>
          </a:p>
        </p:txBody>
      </p:sp>
      <p:sp>
        <p:nvSpPr>
          <p:cNvPr id="13" name="Text 11"/>
          <p:cNvSpPr/>
          <p:nvPr/>
        </p:nvSpPr>
        <p:spPr>
          <a:xfrm>
            <a:off x="6537960" y="2331720"/>
            <a:ext cx="5166360" cy="5029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Enable users to ask weather questions in plain language and receive grounded, accurate answers.</a:t>
            </a:r>
            <a:endParaRPr lang="en-US" sz="1300" dirty="0"/>
          </a:p>
        </p:txBody>
      </p:sp>
      <p:sp>
        <p:nvSpPr>
          <p:cNvPr id="14" name="Shape 12"/>
          <p:cNvSpPr/>
          <p:nvPr/>
        </p:nvSpPr>
        <p:spPr>
          <a:xfrm>
            <a:off x="457200" y="3154680"/>
            <a:ext cx="5623560" cy="1325880"/>
          </a:xfrm>
          <a:prstGeom prst="roundRect">
            <a:avLst>
              <a:gd name="adj" fmla="val 5517"/>
            </a:avLst>
          </a:prstGeom>
          <a:solidFill>
            <a:srgbClr val="1E293B"/>
          </a:solidFill>
          <a:ln/>
        </p:spPr>
      </p:sp>
      <p:sp>
        <p:nvSpPr>
          <p:cNvPr id="15" name="Text 13"/>
          <p:cNvSpPr/>
          <p:nvPr/>
        </p:nvSpPr>
        <p:spPr>
          <a:xfrm>
            <a:off x="685800" y="3337560"/>
            <a:ext cx="640080" cy="32004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03</a:t>
            </a:r>
            <a:endParaRPr lang="en-US" sz="1600" dirty="0"/>
          </a:p>
        </p:txBody>
      </p:sp>
      <p:sp>
        <p:nvSpPr>
          <p:cNvPr id="16" name="Text 14"/>
          <p:cNvSpPr/>
          <p:nvPr/>
        </p:nvSpPr>
        <p:spPr>
          <a:xfrm>
            <a:off x="1371600" y="3337560"/>
            <a:ext cx="448056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Forecast &amp; Prediction</a:t>
            </a:r>
            <a:endParaRPr lang="en-US" sz="1500" dirty="0"/>
          </a:p>
        </p:txBody>
      </p:sp>
      <p:sp>
        <p:nvSpPr>
          <p:cNvPr id="17" name="Text 15"/>
          <p:cNvSpPr/>
          <p:nvPr/>
        </p:nvSpPr>
        <p:spPr>
          <a:xfrm>
            <a:off x="685800" y="3794760"/>
            <a:ext cx="5166360" cy="5029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Provide multi-day forecasts and local ML-based temperature and precipitation predictions.</a:t>
            </a:r>
            <a:endParaRPr lang="en-US" sz="1300" dirty="0"/>
          </a:p>
        </p:txBody>
      </p:sp>
      <p:sp>
        <p:nvSpPr>
          <p:cNvPr id="18" name="Shape 16"/>
          <p:cNvSpPr/>
          <p:nvPr/>
        </p:nvSpPr>
        <p:spPr>
          <a:xfrm>
            <a:off x="6309360" y="3154680"/>
            <a:ext cx="5623560" cy="1325880"/>
          </a:xfrm>
          <a:prstGeom prst="roundRect">
            <a:avLst>
              <a:gd name="adj" fmla="val 5517"/>
            </a:avLst>
          </a:prstGeom>
          <a:solidFill>
            <a:srgbClr val="1E293B"/>
          </a:solidFill>
          <a:ln/>
        </p:spPr>
      </p:sp>
      <p:sp>
        <p:nvSpPr>
          <p:cNvPr id="19" name="Text 17"/>
          <p:cNvSpPr/>
          <p:nvPr/>
        </p:nvSpPr>
        <p:spPr>
          <a:xfrm>
            <a:off x="6537960" y="3337560"/>
            <a:ext cx="640080" cy="32004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04</a:t>
            </a:r>
            <a:endParaRPr lang="en-US" sz="1600" dirty="0"/>
          </a:p>
        </p:txBody>
      </p:sp>
      <p:sp>
        <p:nvSpPr>
          <p:cNvPr id="20" name="Text 18"/>
          <p:cNvSpPr/>
          <p:nvPr/>
        </p:nvSpPr>
        <p:spPr>
          <a:xfrm>
            <a:off x="7223760" y="3337560"/>
            <a:ext cx="448056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Interactive Web Interface</a:t>
            </a:r>
            <a:endParaRPr lang="en-US" sz="1500" dirty="0"/>
          </a:p>
        </p:txBody>
      </p:sp>
      <p:sp>
        <p:nvSpPr>
          <p:cNvPr id="21" name="Text 19"/>
          <p:cNvSpPr/>
          <p:nvPr/>
        </p:nvSpPr>
        <p:spPr>
          <a:xfrm>
            <a:off x="6537960" y="3794760"/>
            <a:ext cx="5166360" cy="5029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Build a simple, responsive dashboard for weather cards, charts, and conversational chat.</a:t>
            </a:r>
            <a:endParaRPr lang="en-US" sz="1300" dirty="0"/>
          </a:p>
        </p:txBody>
      </p:sp>
      <p:sp>
        <p:nvSpPr>
          <p:cNvPr id="22" name="Shape 20"/>
          <p:cNvSpPr/>
          <p:nvPr/>
        </p:nvSpPr>
        <p:spPr>
          <a:xfrm>
            <a:off x="457200" y="4617720"/>
            <a:ext cx="5623560" cy="1325880"/>
          </a:xfrm>
          <a:prstGeom prst="roundRect">
            <a:avLst>
              <a:gd name="adj" fmla="val 5517"/>
            </a:avLst>
          </a:prstGeom>
          <a:solidFill>
            <a:srgbClr val="1E293B"/>
          </a:solidFill>
          <a:ln/>
        </p:spPr>
      </p:sp>
      <p:sp>
        <p:nvSpPr>
          <p:cNvPr id="23" name="Text 21"/>
          <p:cNvSpPr/>
          <p:nvPr/>
        </p:nvSpPr>
        <p:spPr>
          <a:xfrm>
            <a:off x="685800" y="4800600"/>
            <a:ext cx="640080" cy="32004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05</a:t>
            </a:r>
            <a:endParaRPr lang="en-US" sz="1600" dirty="0"/>
          </a:p>
        </p:txBody>
      </p:sp>
      <p:sp>
        <p:nvSpPr>
          <p:cNvPr id="24" name="Text 22"/>
          <p:cNvSpPr/>
          <p:nvPr/>
        </p:nvSpPr>
        <p:spPr>
          <a:xfrm>
            <a:off x="1371600" y="4800600"/>
            <a:ext cx="448056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Secure Data Persistence</a:t>
            </a:r>
            <a:endParaRPr lang="en-US" sz="1500" dirty="0"/>
          </a:p>
        </p:txBody>
      </p:sp>
      <p:sp>
        <p:nvSpPr>
          <p:cNvPr id="25" name="Text 23"/>
          <p:cNvSpPr/>
          <p:nvPr/>
        </p:nvSpPr>
        <p:spPr>
          <a:xfrm>
            <a:off x="685800" y="5257800"/>
            <a:ext cx="5166360" cy="5029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Store users, sessions, locations, and weather history using MariaDB with proper authentication.</a:t>
            </a:r>
            <a:endParaRPr lang="en-US" sz="1300" dirty="0"/>
          </a:p>
        </p:txBody>
      </p:sp>
      <p:sp>
        <p:nvSpPr>
          <p:cNvPr id="26" name="Shape 24"/>
          <p:cNvSpPr/>
          <p:nvPr/>
        </p:nvSpPr>
        <p:spPr>
          <a:xfrm>
            <a:off x="6309360" y="4617720"/>
            <a:ext cx="5623560" cy="1325880"/>
          </a:xfrm>
          <a:prstGeom prst="roundRect">
            <a:avLst>
              <a:gd name="adj" fmla="val 5517"/>
            </a:avLst>
          </a:prstGeom>
          <a:solidFill>
            <a:srgbClr val="1E293B"/>
          </a:solidFill>
          <a:ln/>
        </p:spPr>
      </p:sp>
      <p:sp>
        <p:nvSpPr>
          <p:cNvPr id="27" name="Text 25"/>
          <p:cNvSpPr/>
          <p:nvPr/>
        </p:nvSpPr>
        <p:spPr>
          <a:xfrm>
            <a:off x="6537960" y="4800600"/>
            <a:ext cx="640080" cy="32004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06</a:t>
            </a:r>
            <a:endParaRPr lang="en-US" sz="1600" dirty="0"/>
          </a:p>
        </p:txBody>
      </p:sp>
      <p:sp>
        <p:nvSpPr>
          <p:cNvPr id="28" name="Text 26"/>
          <p:cNvSpPr/>
          <p:nvPr/>
        </p:nvSpPr>
        <p:spPr>
          <a:xfrm>
            <a:off x="7223760" y="4800600"/>
            <a:ext cx="448056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Reliable Integration</a:t>
            </a:r>
            <a:endParaRPr lang="en-US" sz="1500" dirty="0"/>
          </a:p>
        </p:txBody>
      </p:sp>
      <p:sp>
        <p:nvSpPr>
          <p:cNvPr id="29" name="Text 27"/>
          <p:cNvSpPr/>
          <p:nvPr/>
        </p:nvSpPr>
        <p:spPr>
          <a:xfrm>
            <a:off x="6537960" y="5257800"/>
            <a:ext cx="5166360" cy="5029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Connect frontend, backend, weather API, AI, and database into one working system.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6492240"/>
            <a:ext cx="8229600" cy="22860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WeatherGPT  |  Academic Year 2026–2027</a:t>
            </a:r>
            <a:endParaRPr lang="en-US" sz="1100" dirty="0"/>
          </a:p>
        </p:txBody>
      </p:sp>
      <p:sp>
        <p:nvSpPr>
          <p:cNvPr id="3" name="Text 1"/>
          <p:cNvSpPr/>
          <p:nvPr/>
        </p:nvSpPr>
        <p:spPr>
          <a:xfrm>
            <a:off x="10515600" y="6492240"/>
            <a:ext cx="1188720" cy="228600"/>
          </a:xfrm>
          <a:prstGeom prst="rect">
            <a:avLst/>
          </a:prstGeom>
          <a:noFill/>
          <a:ln/>
        </p:spPr>
        <p:txBody>
          <a:bodyPr wrap="square" lIns="0" tIns="0" rIns="0" bIns="0" rtlCol="0" anchor="ctr"/>
          <a:lstStyle/>
          <a:p>
            <a:pPr marL="0" indent="0" algn="r">
              <a:buNone/>
            </a:pPr>
            <a:r>
              <a:rPr lang="en-US" sz="1100" dirty="0">
                <a:solidFill>
                  <a:srgbClr val="94A3B8"/>
                </a:solidFill>
                <a:latin typeface="Calibri" pitchFamily="34" charset="0"/>
                <a:ea typeface="Calibri" pitchFamily="34" charset="-122"/>
                <a:cs typeface="Calibri" pitchFamily="34" charset="-120"/>
              </a:rPr>
              <a:t>4 / 8</a:t>
            </a:r>
            <a:endParaRPr lang="en-US" sz="1100" dirty="0"/>
          </a:p>
        </p:txBody>
      </p:sp>
      <p:sp>
        <p:nvSpPr>
          <p:cNvPr id="4" name="Text 2"/>
          <p:cNvSpPr/>
          <p:nvPr/>
        </p:nvSpPr>
        <p:spPr>
          <a:xfrm>
            <a:off x="457200" y="274320"/>
            <a:ext cx="10972800" cy="4572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Features</a:t>
            </a:r>
            <a:endParaRPr lang="en-US" sz="2800" dirty="0"/>
          </a:p>
        </p:txBody>
      </p:sp>
      <p:sp>
        <p:nvSpPr>
          <p:cNvPr id="5" name="Shape 3"/>
          <p:cNvSpPr/>
          <p:nvPr/>
        </p:nvSpPr>
        <p:spPr>
          <a:xfrm>
            <a:off x="365760" y="960120"/>
            <a:ext cx="2788920" cy="2423160"/>
          </a:xfrm>
          <a:prstGeom prst="roundRect">
            <a:avLst>
              <a:gd name="adj" fmla="val 3774"/>
            </a:avLst>
          </a:prstGeom>
          <a:solidFill>
            <a:srgbClr val="1E293B"/>
          </a:solidFill>
          <a:ln/>
        </p:spPr>
      </p:sp>
      <p:sp>
        <p:nvSpPr>
          <p:cNvPr id="6" name="Text 4"/>
          <p:cNvSpPr/>
          <p:nvPr/>
        </p:nvSpPr>
        <p:spPr>
          <a:xfrm>
            <a:off x="548640" y="1188720"/>
            <a:ext cx="2377440" cy="320040"/>
          </a:xfrm>
          <a:prstGeom prst="rect">
            <a:avLst/>
          </a:prstGeom>
          <a:noFill/>
          <a:ln/>
        </p:spPr>
        <p:txBody>
          <a:bodyPr wrap="square" lIns="0" tIns="0" rIns="0" bIns="0" rtlCol="0" anchor="ctr"/>
          <a:lstStyle/>
          <a:p>
            <a:pPr marL="0" indent="0">
              <a:buNone/>
            </a:pPr>
            <a:r>
              <a:rPr lang="en-US" sz="1400" dirty="0">
                <a:solidFill>
                  <a:srgbClr val="38BDF8"/>
                </a:solidFill>
                <a:latin typeface="Calibri" pitchFamily="34" charset="0"/>
                <a:ea typeface="Calibri" pitchFamily="34" charset="-122"/>
                <a:cs typeface="Calibri" pitchFamily="34" charset="-120"/>
              </a:rPr>
              <a:t>01</a:t>
            </a:r>
            <a:endParaRPr lang="en-US" sz="1400" dirty="0"/>
          </a:p>
        </p:txBody>
      </p:sp>
      <p:sp>
        <p:nvSpPr>
          <p:cNvPr id="7" name="Text 5"/>
          <p:cNvSpPr/>
          <p:nvPr/>
        </p:nvSpPr>
        <p:spPr>
          <a:xfrm>
            <a:off x="548640" y="1600200"/>
            <a:ext cx="242316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Conversational AI Chat</a:t>
            </a:r>
            <a:endParaRPr lang="en-US" sz="1400" dirty="0"/>
          </a:p>
        </p:txBody>
      </p:sp>
      <p:sp>
        <p:nvSpPr>
          <p:cNvPr id="8" name="Text 6"/>
          <p:cNvSpPr/>
          <p:nvPr/>
        </p:nvSpPr>
        <p:spPr>
          <a:xfrm>
            <a:off x="548640" y="2194560"/>
            <a:ext cx="2423160" cy="10058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Ask weather questions in natural language. Groq LLM understands intent and replies with real data.</a:t>
            </a:r>
            <a:endParaRPr lang="en-US" sz="1200" dirty="0"/>
          </a:p>
        </p:txBody>
      </p:sp>
      <p:sp>
        <p:nvSpPr>
          <p:cNvPr id="9" name="Shape 7"/>
          <p:cNvSpPr/>
          <p:nvPr/>
        </p:nvSpPr>
        <p:spPr>
          <a:xfrm>
            <a:off x="3291840" y="960120"/>
            <a:ext cx="2788920" cy="2423160"/>
          </a:xfrm>
          <a:prstGeom prst="roundRect">
            <a:avLst>
              <a:gd name="adj" fmla="val 3774"/>
            </a:avLst>
          </a:prstGeom>
          <a:solidFill>
            <a:srgbClr val="1E293B"/>
          </a:solidFill>
          <a:ln/>
        </p:spPr>
      </p:sp>
      <p:sp>
        <p:nvSpPr>
          <p:cNvPr id="10" name="Text 8"/>
          <p:cNvSpPr/>
          <p:nvPr/>
        </p:nvSpPr>
        <p:spPr>
          <a:xfrm>
            <a:off x="3474720" y="1188720"/>
            <a:ext cx="2377440" cy="320040"/>
          </a:xfrm>
          <a:prstGeom prst="rect">
            <a:avLst/>
          </a:prstGeom>
          <a:noFill/>
          <a:ln/>
        </p:spPr>
        <p:txBody>
          <a:bodyPr wrap="square" lIns="0" tIns="0" rIns="0" bIns="0" rtlCol="0" anchor="ctr"/>
          <a:lstStyle/>
          <a:p>
            <a:pPr marL="0" indent="0">
              <a:buNone/>
            </a:pPr>
            <a:r>
              <a:rPr lang="en-US" sz="1400" dirty="0">
                <a:solidFill>
                  <a:srgbClr val="38BDF8"/>
                </a:solidFill>
                <a:latin typeface="Calibri" pitchFamily="34" charset="0"/>
                <a:ea typeface="Calibri" pitchFamily="34" charset="-122"/>
                <a:cs typeface="Calibri" pitchFamily="34" charset="-120"/>
              </a:rPr>
              <a:t>02</a:t>
            </a:r>
            <a:endParaRPr lang="en-US" sz="1400" dirty="0"/>
          </a:p>
        </p:txBody>
      </p:sp>
      <p:sp>
        <p:nvSpPr>
          <p:cNvPr id="11" name="Text 9"/>
          <p:cNvSpPr/>
          <p:nvPr/>
        </p:nvSpPr>
        <p:spPr>
          <a:xfrm>
            <a:off x="3474720" y="1600200"/>
            <a:ext cx="242316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Real-time Weather Data</a:t>
            </a:r>
            <a:endParaRPr lang="en-US" sz="1400" dirty="0"/>
          </a:p>
        </p:txBody>
      </p:sp>
      <p:sp>
        <p:nvSpPr>
          <p:cNvPr id="12" name="Text 10"/>
          <p:cNvSpPr/>
          <p:nvPr/>
        </p:nvSpPr>
        <p:spPr>
          <a:xfrm>
            <a:off x="3474720" y="2194560"/>
            <a:ext cx="2423160" cy="10058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Current conditions from Open-Meteo (ECMWF IFS model) for any location worldwide.</a:t>
            </a:r>
            <a:endParaRPr lang="en-US" sz="1200" dirty="0"/>
          </a:p>
        </p:txBody>
      </p:sp>
      <p:sp>
        <p:nvSpPr>
          <p:cNvPr id="13" name="Shape 11"/>
          <p:cNvSpPr/>
          <p:nvPr/>
        </p:nvSpPr>
        <p:spPr>
          <a:xfrm>
            <a:off x="6217920" y="960120"/>
            <a:ext cx="2788920" cy="2423160"/>
          </a:xfrm>
          <a:prstGeom prst="roundRect">
            <a:avLst>
              <a:gd name="adj" fmla="val 3774"/>
            </a:avLst>
          </a:prstGeom>
          <a:solidFill>
            <a:srgbClr val="1E293B"/>
          </a:solidFill>
          <a:ln/>
        </p:spPr>
      </p:sp>
      <p:sp>
        <p:nvSpPr>
          <p:cNvPr id="14" name="Text 12"/>
          <p:cNvSpPr/>
          <p:nvPr/>
        </p:nvSpPr>
        <p:spPr>
          <a:xfrm>
            <a:off x="6400800" y="1188720"/>
            <a:ext cx="2377440" cy="320040"/>
          </a:xfrm>
          <a:prstGeom prst="rect">
            <a:avLst/>
          </a:prstGeom>
          <a:noFill/>
          <a:ln/>
        </p:spPr>
        <p:txBody>
          <a:bodyPr wrap="square" lIns="0" tIns="0" rIns="0" bIns="0" rtlCol="0" anchor="ctr"/>
          <a:lstStyle/>
          <a:p>
            <a:pPr marL="0" indent="0">
              <a:buNone/>
            </a:pPr>
            <a:r>
              <a:rPr lang="en-US" sz="1400" dirty="0">
                <a:solidFill>
                  <a:srgbClr val="38BDF8"/>
                </a:solidFill>
                <a:latin typeface="Calibri" pitchFamily="34" charset="0"/>
                <a:ea typeface="Calibri" pitchFamily="34" charset="-122"/>
                <a:cs typeface="Calibri" pitchFamily="34" charset="-120"/>
              </a:rPr>
              <a:t>03</a:t>
            </a:r>
            <a:endParaRPr lang="en-US" sz="1400" dirty="0"/>
          </a:p>
        </p:txBody>
      </p:sp>
      <p:sp>
        <p:nvSpPr>
          <p:cNvPr id="15" name="Text 13"/>
          <p:cNvSpPr/>
          <p:nvPr/>
        </p:nvSpPr>
        <p:spPr>
          <a:xfrm>
            <a:off x="6400800" y="1600200"/>
            <a:ext cx="242316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7-Day Forecast</a:t>
            </a:r>
            <a:endParaRPr lang="en-US" sz="1400" dirty="0"/>
          </a:p>
        </p:txBody>
      </p:sp>
      <p:sp>
        <p:nvSpPr>
          <p:cNvPr id="16" name="Text 14"/>
          <p:cNvSpPr/>
          <p:nvPr/>
        </p:nvSpPr>
        <p:spPr>
          <a:xfrm>
            <a:off x="6400800" y="2194560"/>
            <a:ext cx="2423160" cy="10058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Hourly and daily forecasts with temperature, rain, wind, humidity, and weather codes.</a:t>
            </a:r>
            <a:endParaRPr lang="en-US" sz="1200" dirty="0"/>
          </a:p>
        </p:txBody>
      </p:sp>
      <p:sp>
        <p:nvSpPr>
          <p:cNvPr id="17" name="Shape 15"/>
          <p:cNvSpPr/>
          <p:nvPr/>
        </p:nvSpPr>
        <p:spPr>
          <a:xfrm>
            <a:off x="9144000" y="960120"/>
            <a:ext cx="2788920" cy="2423160"/>
          </a:xfrm>
          <a:prstGeom prst="roundRect">
            <a:avLst>
              <a:gd name="adj" fmla="val 3774"/>
            </a:avLst>
          </a:prstGeom>
          <a:solidFill>
            <a:srgbClr val="1E293B"/>
          </a:solidFill>
          <a:ln/>
        </p:spPr>
      </p:sp>
      <p:sp>
        <p:nvSpPr>
          <p:cNvPr id="18" name="Text 16"/>
          <p:cNvSpPr/>
          <p:nvPr/>
        </p:nvSpPr>
        <p:spPr>
          <a:xfrm>
            <a:off x="9326880" y="1188720"/>
            <a:ext cx="2377440" cy="320040"/>
          </a:xfrm>
          <a:prstGeom prst="rect">
            <a:avLst/>
          </a:prstGeom>
          <a:noFill/>
          <a:ln/>
        </p:spPr>
        <p:txBody>
          <a:bodyPr wrap="square" lIns="0" tIns="0" rIns="0" bIns="0" rtlCol="0" anchor="ctr"/>
          <a:lstStyle/>
          <a:p>
            <a:pPr marL="0" indent="0">
              <a:buNone/>
            </a:pPr>
            <a:r>
              <a:rPr lang="en-US" sz="1400" dirty="0">
                <a:solidFill>
                  <a:srgbClr val="38BDF8"/>
                </a:solidFill>
                <a:latin typeface="Calibri" pitchFamily="34" charset="0"/>
                <a:ea typeface="Calibri" pitchFamily="34" charset="-122"/>
                <a:cs typeface="Calibri" pitchFamily="34" charset="-120"/>
              </a:rPr>
              <a:t>04</a:t>
            </a:r>
            <a:endParaRPr lang="en-US" sz="1400" dirty="0"/>
          </a:p>
        </p:txBody>
      </p:sp>
      <p:sp>
        <p:nvSpPr>
          <p:cNvPr id="19" name="Text 17"/>
          <p:cNvSpPr/>
          <p:nvPr/>
        </p:nvSpPr>
        <p:spPr>
          <a:xfrm>
            <a:off x="9326880" y="1600200"/>
            <a:ext cx="242316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ML Predictions</a:t>
            </a:r>
            <a:endParaRPr lang="en-US" sz="1400" dirty="0"/>
          </a:p>
        </p:txBody>
      </p:sp>
      <p:sp>
        <p:nvSpPr>
          <p:cNvPr id="20" name="Text 18"/>
          <p:cNvSpPr/>
          <p:nvPr/>
        </p:nvSpPr>
        <p:spPr>
          <a:xfrm>
            <a:off x="9326880" y="2194560"/>
            <a:ext cx="2423160" cy="10058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Local XGBoost models predict temperature and rain probability for 1h–24h horizons.</a:t>
            </a:r>
            <a:endParaRPr lang="en-US" sz="1200" dirty="0"/>
          </a:p>
        </p:txBody>
      </p:sp>
      <p:sp>
        <p:nvSpPr>
          <p:cNvPr id="21" name="Shape 19"/>
          <p:cNvSpPr/>
          <p:nvPr/>
        </p:nvSpPr>
        <p:spPr>
          <a:xfrm>
            <a:off x="365760" y="3566160"/>
            <a:ext cx="2788920" cy="2423160"/>
          </a:xfrm>
          <a:prstGeom prst="roundRect">
            <a:avLst>
              <a:gd name="adj" fmla="val 3774"/>
            </a:avLst>
          </a:prstGeom>
          <a:solidFill>
            <a:srgbClr val="1E293B"/>
          </a:solidFill>
          <a:ln/>
        </p:spPr>
      </p:sp>
      <p:sp>
        <p:nvSpPr>
          <p:cNvPr id="22" name="Text 20"/>
          <p:cNvSpPr/>
          <p:nvPr/>
        </p:nvSpPr>
        <p:spPr>
          <a:xfrm>
            <a:off x="548640" y="3794760"/>
            <a:ext cx="2377440" cy="320040"/>
          </a:xfrm>
          <a:prstGeom prst="rect">
            <a:avLst/>
          </a:prstGeom>
          <a:noFill/>
          <a:ln/>
        </p:spPr>
        <p:txBody>
          <a:bodyPr wrap="square" lIns="0" tIns="0" rIns="0" bIns="0" rtlCol="0" anchor="ctr"/>
          <a:lstStyle/>
          <a:p>
            <a:pPr marL="0" indent="0">
              <a:buNone/>
            </a:pPr>
            <a:r>
              <a:rPr lang="en-US" sz="1400" dirty="0">
                <a:solidFill>
                  <a:srgbClr val="38BDF8"/>
                </a:solidFill>
                <a:latin typeface="Calibri" pitchFamily="34" charset="0"/>
                <a:ea typeface="Calibri" pitchFamily="34" charset="-122"/>
                <a:cs typeface="Calibri" pitchFamily="34" charset="-120"/>
              </a:rPr>
              <a:t>05</a:t>
            </a:r>
            <a:endParaRPr lang="en-US" sz="1400" dirty="0"/>
          </a:p>
        </p:txBody>
      </p:sp>
      <p:sp>
        <p:nvSpPr>
          <p:cNvPr id="23" name="Text 21"/>
          <p:cNvSpPr/>
          <p:nvPr/>
        </p:nvSpPr>
        <p:spPr>
          <a:xfrm>
            <a:off x="548640" y="4206240"/>
            <a:ext cx="242316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Interactive Dashboard</a:t>
            </a:r>
            <a:endParaRPr lang="en-US" sz="1400" dirty="0"/>
          </a:p>
        </p:txBody>
      </p:sp>
      <p:sp>
        <p:nvSpPr>
          <p:cNvPr id="24" name="Text 22"/>
          <p:cNvSpPr/>
          <p:nvPr/>
        </p:nvSpPr>
        <p:spPr>
          <a:xfrm>
            <a:off x="548640" y="4800600"/>
            <a:ext cx="2423160" cy="10058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Weather cards, charts, location search, and alerts in a clean React interface.</a:t>
            </a:r>
            <a:endParaRPr lang="en-US" sz="1200" dirty="0"/>
          </a:p>
        </p:txBody>
      </p:sp>
      <p:sp>
        <p:nvSpPr>
          <p:cNvPr id="25" name="Shape 23"/>
          <p:cNvSpPr/>
          <p:nvPr/>
        </p:nvSpPr>
        <p:spPr>
          <a:xfrm>
            <a:off x="3291840" y="3566160"/>
            <a:ext cx="2788920" cy="2423160"/>
          </a:xfrm>
          <a:prstGeom prst="roundRect">
            <a:avLst>
              <a:gd name="adj" fmla="val 3774"/>
            </a:avLst>
          </a:prstGeom>
          <a:solidFill>
            <a:srgbClr val="1E293B"/>
          </a:solidFill>
          <a:ln/>
        </p:spPr>
      </p:sp>
      <p:sp>
        <p:nvSpPr>
          <p:cNvPr id="26" name="Text 24"/>
          <p:cNvSpPr/>
          <p:nvPr/>
        </p:nvSpPr>
        <p:spPr>
          <a:xfrm>
            <a:off x="3474720" y="3794760"/>
            <a:ext cx="2377440" cy="320040"/>
          </a:xfrm>
          <a:prstGeom prst="rect">
            <a:avLst/>
          </a:prstGeom>
          <a:noFill/>
          <a:ln/>
        </p:spPr>
        <p:txBody>
          <a:bodyPr wrap="square" lIns="0" tIns="0" rIns="0" bIns="0" rtlCol="0" anchor="ctr"/>
          <a:lstStyle/>
          <a:p>
            <a:pPr marL="0" indent="0">
              <a:buNone/>
            </a:pPr>
            <a:r>
              <a:rPr lang="en-US" sz="1400" dirty="0">
                <a:solidFill>
                  <a:srgbClr val="38BDF8"/>
                </a:solidFill>
                <a:latin typeface="Calibri" pitchFamily="34" charset="0"/>
                <a:ea typeface="Calibri" pitchFamily="34" charset="-122"/>
                <a:cs typeface="Calibri" pitchFamily="34" charset="-120"/>
              </a:rPr>
              <a:t>06</a:t>
            </a:r>
            <a:endParaRPr lang="en-US" sz="1400" dirty="0"/>
          </a:p>
        </p:txBody>
      </p:sp>
      <p:sp>
        <p:nvSpPr>
          <p:cNvPr id="27" name="Text 25"/>
          <p:cNvSpPr/>
          <p:nvPr/>
        </p:nvSpPr>
        <p:spPr>
          <a:xfrm>
            <a:off x="3474720" y="4206240"/>
            <a:ext cx="242316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User Accounts &amp; History</a:t>
            </a:r>
            <a:endParaRPr lang="en-US" sz="1400" dirty="0"/>
          </a:p>
        </p:txBody>
      </p:sp>
      <p:sp>
        <p:nvSpPr>
          <p:cNvPr id="28" name="Text 26"/>
          <p:cNvSpPr/>
          <p:nvPr/>
        </p:nvSpPr>
        <p:spPr>
          <a:xfrm>
            <a:off x="3474720" y="4800600"/>
            <a:ext cx="2423160" cy="10058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JWT authentication, saved locations, chat sessions, and search history in MariaDB.</a:t>
            </a:r>
            <a:endParaRPr lang="en-US" sz="1200" dirty="0"/>
          </a:p>
        </p:txBody>
      </p:sp>
      <p:sp>
        <p:nvSpPr>
          <p:cNvPr id="29" name="Shape 27"/>
          <p:cNvSpPr/>
          <p:nvPr/>
        </p:nvSpPr>
        <p:spPr>
          <a:xfrm>
            <a:off x="6217920" y="3566160"/>
            <a:ext cx="2788920" cy="2423160"/>
          </a:xfrm>
          <a:prstGeom prst="roundRect">
            <a:avLst>
              <a:gd name="adj" fmla="val 3774"/>
            </a:avLst>
          </a:prstGeom>
          <a:solidFill>
            <a:srgbClr val="1E293B"/>
          </a:solidFill>
          <a:ln/>
        </p:spPr>
      </p:sp>
      <p:sp>
        <p:nvSpPr>
          <p:cNvPr id="30" name="Text 28"/>
          <p:cNvSpPr/>
          <p:nvPr/>
        </p:nvSpPr>
        <p:spPr>
          <a:xfrm>
            <a:off x="6400800" y="3794760"/>
            <a:ext cx="2377440" cy="320040"/>
          </a:xfrm>
          <a:prstGeom prst="rect">
            <a:avLst/>
          </a:prstGeom>
          <a:noFill/>
          <a:ln/>
        </p:spPr>
        <p:txBody>
          <a:bodyPr wrap="square" lIns="0" tIns="0" rIns="0" bIns="0" rtlCol="0" anchor="ctr"/>
          <a:lstStyle/>
          <a:p>
            <a:pPr marL="0" indent="0">
              <a:buNone/>
            </a:pPr>
            <a:r>
              <a:rPr lang="en-US" sz="1400" dirty="0">
                <a:solidFill>
                  <a:srgbClr val="38BDF8"/>
                </a:solidFill>
                <a:latin typeface="Calibri" pitchFamily="34" charset="0"/>
                <a:ea typeface="Calibri" pitchFamily="34" charset="-122"/>
                <a:cs typeface="Calibri" pitchFamily="34" charset="-120"/>
              </a:rPr>
              <a:t>07</a:t>
            </a:r>
            <a:endParaRPr lang="en-US" sz="1400" dirty="0"/>
          </a:p>
        </p:txBody>
      </p:sp>
      <p:sp>
        <p:nvSpPr>
          <p:cNvPr id="31" name="Text 29"/>
          <p:cNvSpPr/>
          <p:nvPr/>
        </p:nvSpPr>
        <p:spPr>
          <a:xfrm>
            <a:off x="6400800" y="4206240"/>
            <a:ext cx="242316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Historical Analysis</a:t>
            </a:r>
            <a:endParaRPr lang="en-US" sz="1400" dirty="0"/>
          </a:p>
        </p:txBody>
      </p:sp>
      <p:sp>
        <p:nvSpPr>
          <p:cNvPr id="32" name="Text 30"/>
          <p:cNvSpPr/>
          <p:nvPr/>
        </p:nvSpPr>
        <p:spPr>
          <a:xfrm>
            <a:off x="6400800" y="4800600"/>
            <a:ext cx="2423160" cy="10058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Access multi-year historical weather aggregates for trends and climate insights.</a:t>
            </a:r>
            <a:endParaRPr lang="en-US" sz="1200" dirty="0"/>
          </a:p>
        </p:txBody>
      </p:sp>
      <p:sp>
        <p:nvSpPr>
          <p:cNvPr id="33" name="Shape 31"/>
          <p:cNvSpPr/>
          <p:nvPr/>
        </p:nvSpPr>
        <p:spPr>
          <a:xfrm>
            <a:off x="9144000" y="3566160"/>
            <a:ext cx="2788920" cy="2423160"/>
          </a:xfrm>
          <a:prstGeom prst="roundRect">
            <a:avLst>
              <a:gd name="adj" fmla="val 3774"/>
            </a:avLst>
          </a:prstGeom>
          <a:solidFill>
            <a:srgbClr val="1E293B"/>
          </a:solidFill>
          <a:ln/>
        </p:spPr>
      </p:sp>
      <p:sp>
        <p:nvSpPr>
          <p:cNvPr id="34" name="Text 32"/>
          <p:cNvSpPr/>
          <p:nvPr/>
        </p:nvSpPr>
        <p:spPr>
          <a:xfrm>
            <a:off x="9326880" y="3794760"/>
            <a:ext cx="2377440" cy="320040"/>
          </a:xfrm>
          <a:prstGeom prst="rect">
            <a:avLst/>
          </a:prstGeom>
          <a:noFill/>
          <a:ln/>
        </p:spPr>
        <p:txBody>
          <a:bodyPr wrap="square" lIns="0" tIns="0" rIns="0" bIns="0" rtlCol="0" anchor="ctr"/>
          <a:lstStyle/>
          <a:p>
            <a:pPr marL="0" indent="0">
              <a:buNone/>
            </a:pPr>
            <a:r>
              <a:rPr lang="en-US" sz="1400" dirty="0">
                <a:solidFill>
                  <a:srgbClr val="38BDF8"/>
                </a:solidFill>
                <a:latin typeface="Calibri" pitchFamily="34" charset="0"/>
                <a:ea typeface="Calibri" pitchFamily="34" charset="-122"/>
                <a:cs typeface="Calibri" pitchFamily="34" charset="-120"/>
              </a:rPr>
              <a:t>08</a:t>
            </a:r>
            <a:endParaRPr lang="en-US" sz="1400" dirty="0"/>
          </a:p>
        </p:txBody>
      </p:sp>
      <p:sp>
        <p:nvSpPr>
          <p:cNvPr id="35" name="Text 33"/>
          <p:cNvSpPr/>
          <p:nvPr/>
        </p:nvSpPr>
        <p:spPr>
          <a:xfrm>
            <a:off x="9326880" y="4206240"/>
            <a:ext cx="242316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Secure Backend</a:t>
            </a:r>
            <a:endParaRPr lang="en-US" sz="1400" dirty="0"/>
          </a:p>
        </p:txBody>
      </p:sp>
      <p:sp>
        <p:nvSpPr>
          <p:cNvPr id="36" name="Text 34"/>
          <p:cNvSpPr/>
          <p:nvPr/>
        </p:nvSpPr>
        <p:spPr>
          <a:xfrm>
            <a:off x="9326880" y="4800600"/>
            <a:ext cx="2423160" cy="100584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FastAPI with input validation, error handling, and protected routes.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6492240"/>
            <a:ext cx="8229600" cy="22860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WeatherGPT  |  Academic Year 2026–2027</a:t>
            </a:r>
            <a:endParaRPr lang="en-US" sz="1100" dirty="0"/>
          </a:p>
        </p:txBody>
      </p:sp>
      <p:sp>
        <p:nvSpPr>
          <p:cNvPr id="3" name="Text 1"/>
          <p:cNvSpPr/>
          <p:nvPr/>
        </p:nvSpPr>
        <p:spPr>
          <a:xfrm>
            <a:off x="10515600" y="6492240"/>
            <a:ext cx="1188720" cy="228600"/>
          </a:xfrm>
          <a:prstGeom prst="rect">
            <a:avLst/>
          </a:prstGeom>
          <a:noFill/>
          <a:ln/>
        </p:spPr>
        <p:txBody>
          <a:bodyPr wrap="square" lIns="0" tIns="0" rIns="0" bIns="0" rtlCol="0" anchor="ctr"/>
          <a:lstStyle/>
          <a:p>
            <a:pPr marL="0" indent="0" algn="r">
              <a:buNone/>
            </a:pPr>
            <a:r>
              <a:rPr lang="en-US" sz="1100" dirty="0">
                <a:solidFill>
                  <a:srgbClr val="94A3B8"/>
                </a:solidFill>
                <a:latin typeface="Calibri" pitchFamily="34" charset="0"/>
                <a:ea typeface="Calibri" pitchFamily="34" charset="-122"/>
                <a:cs typeface="Calibri" pitchFamily="34" charset="-120"/>
              </a:rPr>
              <a:t>5 / 8</a:t>
            </a:r>
            <a:endParaRPr lang="en-US" sz="1100" dirty="0"/>
          </a:p>
        </p:txBody>
      </p:sp>
      <p:sp>
        <p:nvSpPr>
          <p:cNvPr id="4" name="Text 2"/>
          <p:cNvSpPr/>
          <p:nvPr/>
        </p:nvSpPr>
        <p:spPr>
          <a:xfrm>
            <a:off x="457200" y="274320"/>
            <a:ext cx="10972800" cy="4114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Technology Stack &amp; Architecture</a:t>
            </a:r>
            <a:endParaRPr lang="en-US" sz="2600" dirty="0"/>
          </a:p>
        </p:txBody>
      </p:sp>
      <p:sp>
        <p:nvSpPr>
          <p:cNvPr id="5" name="Shape 3"/>
          <p:cNvSpPr/>
          <p:nvPr/>
        </p:nvSpPr>
        <p:spPr>
          <a:xfrm>
            <a:off x="457200" y="822960"/>
            <a:ext cx="5760720" cy="566928"/>
          </a:xfrm>
          <a:prstGeom prst="roundRect">
            <a:avLst>
              <a:gd name="adj" fmla="val 9677"/>
            </a:avLst>
          </a:prstGeom>
          <a:solidFill>
            <a:srgbClr val="1E293B"/>
          </a:solidFill>
          <a:ln/>
        </p:spPr>
      </p:sp>
      <p:sp>
        <p:nvSpPr>
          <p:cNvPr id="6" name="Text 4"/>
          <p:cNvSpPr/>
          <p:nvPr/>
        </p:nvSpPr>
        <p:spPr>
          <a:xfrm>
            <a:off x="640080" y="932688"/>
            <a:ext cx="1645920" cy="347472"/>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Frontend</a:t>
            </a:r>
            <a:endParaRPr lang="en-US" sz="1300" dirty="0"/>
          </a:p>
        </p:txBody>
      </p:sp>
      <p:sp>
        <p:nvSpPr>
          <p:cNvPr id="7" name="Text 5"/>
          <p:cNvSpPr/>
          <p:nvPr/>
        </p:nvSpPr>
        <p:spPr>
          <a:xfrm>
            <a:off x="2377440" y="932688"/>
            <a:ext cx="3657600" cy="347472"/>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React 18  ·  TypeScript  ·  Vite  ·  Chart.js</a:t>
            </a:r>
            <a:endParaRPr lang="en-US" sz="1300" dirty="0"/>
          </a:p>
        </p:txBody>
      </p:sp>
      <p:sp>
        <p:nvSpPr>
          <p:cNvPr id="8" name="Shape 6"/>
          <p:cNvSpPr/>
          <p:nvPr/>
        </p:nvSpPr>
        <p:spPr>
          <a:xfrm>
            <a:off x="457200" y="1481328"/>
            <a:ext cx="5760720" cy="566928"/>
          </a:xfrm>
          <a:prstGeom prst="roundRect">
            <a:avLst>
              <a:gd name="adj" fmla="val 9677"/>
            </a:avLst>
          </a:prstGeom>
          <a:solidFill>
            <a:srgbClr val="1E293B"/>
          </a:solidFill>
          <a:ln/>
        </p:spPr>
      </p:sp>
      <p:sp>
        <p:nvSpPr>
          <p:cNvPr id="9" name="Text 7"/>
          <p:cNvSpPr/>
          <p:nvPr/>
        </p:nvSpPr>
        <p:spPr>
          <a:xfrm>
            <a:off x="640080" y="1591056"/>
            <a:ext cx="1645920" cy="347472"/>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Backend</a:t>
            </a:r>
            <a:endParaRPr lang="en-US" sz="1300" dirty="0"/>
          </a:p>
        </p:txBody>
      </p:sp>
      <p:sp>
        <p:nvSpPr>
          <p:cNvPr id="10" name="Text 8"/>
          <p:cNvSpPr/>
          <p:nvPr/>
        </p:nvSpPr>
        <p:spPr>
          <a:xfrm>
            <a:off x="2377440" y="1591056"/>
            <a:ext cx="3657600" cy="347472"/>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FastAPI  ·  SQLAlchemy  ·  JWT + Argon2</a:t>
            </a:r>
            <a:endParaRPr lang="en-US" sz="1300" dirty="0"/>
          </a:p>
        </p:txBody>
      </p:sp>
      <p:sp>
        <p:nvSpPr>
          <p:cNvPr id="11" name="Shape 9"/>
          <p:cNvSpPr/>
          <p:nvPr/>
        </p:nvSpPr>
        <p:spPr>
          <a:xfrm>
            <a:off x="457200" y="2139696"/>
            <a:ext cx="5760720" cy="566928"/>
          </a:xfrm>
          <a:prstGeom prst="roundRect">
            <a:avLst>
              <a:gd name="adj" fmla="val 9677"/>
            </a:avLst>
          </a:prstGeom>
          <a:solidFill>
            <a:srgbClr val="1E293B"/>
          </a:solidFill>
          <a:ln/>
        </p:spPr>
      </p:sp>
      <p:sp>
        <p:nvSpPr>
          <p:cNvPr id="12" name="Text 10"/>
          <p:cNvSpPr/>
          <p:nvPr/>
        </p:nvSpPr>
        <p:spPr>
          <a:xfrm>
            <a:off x="640080" y="2249424"/>
            <a:ext cx="1645920" cy="347472"/>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AI / LLM</a:t>
            </a:r>
            <a:endParaRPr lang="en-US" sz="1300" dirty="0"/>
          </a:p>
        </p:txBody>
      </p:sp>
      <p:sp>
        <p:nvSpPr>
          <p:cNvPr id="13" name="Text 11"/>
          <p:cNvSpPr/>
          <p:nvPr/>
        </p:nvSpPr>
        <p:spPr>
          <a:xfrm>
            <a:off x="2377440" y="2249424"/>
            <a:ext cx="3657600" cy="347472"/>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Groq  ·  llama-3.3-70b-versatile</a:t>
            </a:r>
            <a:endParaRPr lang="en-US" sz="1300" dirty="0"/>
          </a:p>
        </p:txBody>
      </p:sp>
      <p:sp>
        <p:nvSpPr>
          <p:cNvPr id="14" name="Shape 12"/>
          <p:cNvSpPr/>
          <p:nvPr/>
        </p:nvSpPr>
        <p:spPr>
          <a:xfrm>
            <a:off x="457200" y="2798064"/>
            <a:ext cx="5760720" cy="566928"/>
          </a:xfrm>
          <a:prstGeom prst="roundRect">
            <a:avLst>
              <a:gd name="adj" fmla="val 9677"/>
            </a:avLst>
          </a:prstGeom>
          <a:solidFill>
            <a:srgbClr val="1E293B"/>
          </a:solidFill>
          <a:ln/>
        </p:spPr>
      </p:sp>
      <p:sp>
        <p:nvSpPr>
          <p:cNvPr id="15" name="Text 13"/>
          <p:cNvSpPr/>
          <p:nvPr/>
        </p:nvSpPr>
        <p:spPr>
          <a:xfrm>
            <a:off x="640080" y="2907792"/>
            <a:ext cx="1645920" cy="347472"/>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ML Models</a:t>
            </a:r>
            <a:endParaRPr lang="en-US" sz="1300" dirty="0"/>
          </a:p>
        </p:txBody>
      </p:sp>
      <p:sp>
        <p:nvSpPr>
          <p:cNvPr id="16" name="Text 14"/>
          <p:cNvSpPr/>
          <p:nvPr/>
        </p:nvSpPr>
        <p:spPr>
          <a:xfrm>
            <a:off x="2377440" y="2907792"/>
            <a:ext cx="3657600" cy="347472"/>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XGBoost  ·  scikit-learn (Temp + Rain)</a:t>
            </a:r>
            <a:endParaRPr lang="en-US" sz="1300" dirty="0"/>
          </a:p>
        </p:txBody>
      </p:sp>
      <p:sp>
        <p:nvSpPr>
          <p:cNvPr id="17" name="Shape 15"/>
          <p:cNvSpPr/>
          <p:nvPr/>
        </p:nvSpPr>
        <p:spPr>
          <a:xfrm>
            <a:off x="457200" y="3456432"/>
            <a:ext cx="5760720" cy="566928"/>
          </a:xfrm>
          <a:prstGeom prst="roundRect">
            <a:avLst>
              <a:gd name="adj" fmla="val 9677"/>
            </a:avLst>
          </a:prstGeom>
          <a:solidFill>
            <a:srgbClr val="1E293B"/>
          </a:solidFill>
          <a:ln/>
        </p:spPr>
      </p:sp>
      <p:sp>
        <p:nvSpPr>
          <p:cNvPr id="18" name="Text 16"/>
          <p:cNvSpPr/>
          <p:nvPr/>
        </p:nvSpPr>
        <p:spPr>
          <a:xfrm>
            <a:off x="640080" y="3566160"/>
            <a:ext cx="1645920" cy="347472"/>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Weather API</a:t>
            </a:r>
            <a:endParaRPr lang="en-US" sz="1300" dirty="0"/>
          </a:p>
        </p:txBody>
      </p:sp>
      <p:sp>
        <p:nvSpPr>
          <p:cNvPr id="19" name="Text 17"/>
          <p:cNvSpPr/>
          <p:nvPr/>
        </p:nvSpPr>
        <p:spPr>
          <a:xfrm>
            <a:off x="2377440" y="3566160"/>
            <a:ext cx="3657600" cy="347472"/>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Open-Meteo (ECMWF IFS)</a:t>
            </a:r>
            <a:endParaRPr lang="en-US" sz="1300" dirty="0"/>
          </a:p>
        </p:txBody>
      </p:sp>
      <p:sp>
        <p:nvSpPr>
          <p:cNvPr id="20" name="Shape 18"/>
          <p:cNvSpPr/>
          <p:nvPr/>
        </p:nvSpPr>
        <p:spPr>
          <a:xfrm>
            <a:off x="457200" y="4114800"/>
            <a:ext cx="5760720" cy="566928"/>
          </a:xfrm>
          <a:prstGeom prst="roundRect">
            <a:avLst>
              <a:gd name="adj" fmla="val 9677"/>
            </a:avLst>
          </a:prstGeom>
          <a:solidFill>
            <a:srgbClr val="1E293B"/>
          </a:solidFill>
          <a:ln/>
        </p:spPr>
      </p:sp>
      <p:sp>
        <p:nvSpPr>
          <p:cNvPr id="21" name="Text 19"/>
          <p:cNvSpPr/>
          <p:nvPr/>
        </p:nvSpPr>
        <p:spPr>
          <a:xfrm>
            <a:off x="640080" y="4224528"/>
            <a:ext cx="1645920" cy="347472"/>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Database</a:t>
            </a:r>
            <a:endParaRPr lang="en-US" sz="1300" dirty="0"/>
          </a:p>
        </p:txBody>
      </p:sp>
      <p:sp>
        <p:nvSpPr>
          <p:cNvPr id="22" name="Text 20"/>
          <p:cNvSpPr/>
          <p:nvPr/>
        </p:nvSpPr>
        <p:spPr>
          <a:xfrm>
            <a:off x="2377440" y="4224528"/>
            <a:ext cx="3657600" cy="347472"/>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MariaDB / MySQL (13 tables)</a:t>
            </a:r>
            <a:endParaRPr lang="en-US" sz="1300" dirty="0"/>
          </a:p>
        </p:txBody>
      </p:sp>
      <p:sp>
        <p:nvSpPr>
          <p:cNvPr id="23" name="Text 21"/>
          <p:cNvSpPr/>
          <p:nvPr/>
        </p:nvSpPr>
        <p:spPr>
          <a:xfrm>
            <a:off x="6583680" y="822960"/>
            <a:ext cx="5029200" cy="320040"/>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SYSTEM FLOW</a:t>
            </a:r>
            <a:endParaRPr lang="en-US" sz="1300" dirty="0"/>
          </a:p>
        </p:txBody>
      </p:sp>
      <p:sp>
        <p:nvSpPr>
          <p:cNvPr id="24" name="Shape 22"/>
          <p:cNvSpPr/>
          <p:nvPr/>
        </p:nvSpPr>
        <p:spPr>
          <a:xfrm>
            <a:off x="6583680" y="1280160"/>
            <a:ext cx="5029200" cy="502920"/>
          </a:xfrm>
          <a:prstGeom prst="roundRect">
            <a:avLst>
              <a:gd name="adj" fmla="val 10909"/>
            </a:avLst>
          </a:prstGeom>
          <a:solidFill>
            <a:srgbClr val="0EA5E9"/>
          </a:solidFill>
          <a:ln/>
        </p:spPr>
      </p:sp>
      <p:sp>
        <p:nvSpPr>
          <p:cNvPr id="25" name="Text 23"/>
          <p:cNvSpPr/>
          <p:nvPr/>
        </p:nvSpPr>
        <p:spPr>
          <a:xfrm>
            <a:off x="6583680" y="1371600"/>
            <a:ext cx="5029200" cy="320040"/>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USER</a:t>
            </a:r>
            <a:endParaRPr lang="en-US" sz="1300" dirty="0"/>
          </a:p>
        </p:txBody>
      </p:sp>
      <p:sp>
        <p:nvSpPr>
          <p:cNvPr id="26" name="Text 24"/>
          <p:cNvSpPr/>
          <p:nvPr/>
        </p:nvSpPr>
        <p:spPr>
          <a:xfrm>
            <a:off x="6583680" y="1755648"/>
            <a:ext cx="5029200" cy="256032"/>
          </a:xfrm>
          <a:prstGeom prst="rect">
            <a:avLst/>
          </a:prstGeom>
          <a:noFill/>
          <a:ln/>
        </p:spPr>
        <p:txBody>
          <a:bodyPr wrap="square" lIns="0" tIns="0" rIns="0" bIns="0"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27" name="Shape 25"/>
          <p:cNvSpPr/>
          <p:nvPr/>
        </p:nvSpPr>
        <p:spPr>
          <a:xfrm>
            <a:off x="6583680" y="2011680"/>
            <a:ext cx="5029200" cy="502920"/>
          </a:xfrm>
          <a:prstGeom prst="roundRect">
            <a:avLst>
              <a:gd name="adj" fmla="val 10909"/>
            </a:avLst>
          </a:prstGeom>
          <a:solidFill>
            <a:srgbClr val="1E293B"/>
          </a:solidFill>
          <a:ln/>
        </p:spPr>
      </p:sp>
      <p:sp>
        <p:nvSpPr>
          <p:cNvPr id="28" name="Text 26"/>
          <p:cNvSpPr/>
          <p:nvPr/>
        </p:nvSpPr>
        <p:spPr>
          <a:xfrm>
            <a:off x="6583680" y="2103120"/>
            <a:ext cx="5029200" cy="320040"/>
          </a:xfrm>
          <a:prstGeom prst="rect">
            <a:avLst/>
          </a:prstGeom>
          <a:noFill/>
          <a:ln/>
        </p:spPr>
        <p:txBody>
          <a:bodyPr wrap="square" lIns="0" tIns="0" rIns="0" bIns="0" rtlCol="0" anchor="ctr"/>
          <a:lstStyle/>
          <a:p>
            <a:pPr marL="0" indent="0" algn="ctr">
              <a:buNone/>
            </a:pPr>
            <a:r>
              <a:rPr lang="en-US" sz="1300" b="1" dirty="0">
                <a:solidFill>
                  <a:srgbClr val="E2E8F0"/>
                </a:solidFill>
                <a:latin typeface="Calibri" pitchFamily="34" charset="0"/>
                <a:ea typeface="Calibri" pitchFamily="34" charset="-122"/>
                <a:cs typeface="Calibri" pitchFamily="34" charset="-120"/>
              </a:rPr>
              <a:t>WEB INTERFACE (React)</a:t>
            </a:r>
            <a:endParaRPr lang="en-US" sz="1300" dirty="0"/>
          </a:p>
        </p:txBody>
      </p:sp>
      <p:sp>
        <p:nvSpPr>
          <p:cNvPr id="29" name="Text 27"/>
          <p:cNvSpPr/>
          <p:nvPr/>
        </p:nvSpPr>
        <p:spPr>
          <a:xfrm>
            <a:off x="6583680" y="2487168"/>
            <a:ext cx="5029200" cy="256032"/>
          </a:xfrm>
          <a:prstGeom prst="rect">
            <a:avLst/>
          </a:prstGeom>
          <a:noFill/>
          <a:ln/>
        </p:spPr>
        <p:txBody>
          <a:bodyPr wrap="square" lIns="0" tIns="0" rIns="0" bIns="0"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30" name="Shape 28"/>
          <p:cNvSpPr/>
          <p:nvPr/>
        </p:nvSpPr>
        <p:spPr>
          <a:xfrm>
            <a:off x="6583680" y="2743200"/>
            <a:ext cx="5029200" cy="502920"/>
          </a:xfrm>
          <a:prstGeom prst="roundRect">
            <a:avLst>
              <a:gd name="adj" fmla="val 10909"/>
            </a:avLst>
          </a:prstGeom>
          <a:solidFill>
            <a:srgbClr val="1E293B"/>
          </a:solidFill>
          <a:ln/>
        </p:spPr>
      </p:sp>
      <p:sp>
        <p:nvSpPr>
          <p:cNvPr id="31" name="Text 29"/>
          <p:cNvSpPr/>
          <p:nvPr/>
        </p:nvSpPr>
        <p:spPr>
          <a:xfrm>
            <a:off x="6583680" y="2834640"/>
            <a:ext cx="5029200" cy="320040"/>
          </a:xfrm>
          <a:prstGeom prst="rect">
            <a:avLst/>
          </a:prstGeom>
          <a:noFill/>
          <a:ln/>
        </p:spPr>
        <p:txBody>
          <a:bodyPr wrap="square" lIns="0" tIns="0" rIns="0" bIns="0" rtlCol="0" anchor="ctr"/>
          <a:lstStyle/>
          <a:p>
            <a:pPr marL="0" indent="0" algn="ctr">
              <a:buNone/>
            </a:pPr>
            <a:r>
              <a:rPr lang="en-US" sz="1300" b="1" dirty="0">
                <a:solidFill>
                  <a:srgbClr val="E2E8F0"/>
                </a:solidFill>
                <a:latin typeface="Calibri" pitchFamily="34" charset="0"/>
                <a:ea typeface="Calibri" pitchFamily="34" charset="-122"/>
                <a:cs typeface="Calibri" pitchFamily="34" charset="-120"/>
              </a:rPr>
              <a:t>BACKEND / API (FastAPI)</a:t>
            </a:r>
            <a:endParaRPr lang="en-US" sz="1300" dirty="0"/>
          </a:p>
        </p:txBody>
      </p:sp>
      <p:sp>
        <p:nvSpPr>
          <p:cNvPr id="32" name="Text 30"/>
          <p:cNvSpPr/>
          <p:nvPr/>
        </p:nvSpPr>
        <p:spPr>
          <a:xfrm>
            <a:off x="6583680" y="3218688"/>
            <a:ext cx="5029200" cy="256032"/>
          </a:xfrm>
          <a:prstGeom prst="rect">
            <a:avLst/>
          </a:prstGeom>
          <a:noFill/>
          <a:ln/>
        </p:spPr>
        <p:txBody>
          <a:bodyPr wrap="square" lIns="0" tIns="0" rIns="0" bIns="0"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33" name="Shape 31"/>
          <p:cNvSpPr/>
          <p:nvPr/>
        </p:nvSpPr>
        <p:spPr>
          <a:xfrm>
            <a:off x="6583680" y="3474720"/>
            <a:ext cx="5029200" cy="502920"/>
          </a:xfrm>
          <a:prstGeom prst="roundRect">
            <a:avLst>
              <a:gd name="adj" fmla="val 10909"/>
            </a:avLst>
          </a:prstGeom>
          <a:solidFill>
            <a:srgbClr val="1E293B"/>
          </a:solidFill>
          <a:ln/>
        </p:spPr>
      </p:sp>
      <p:sp>
        <p:nvSpPr>
          <p:cNvPr id="34" name="Text 32"/>
          <p:cNvSpPr/>
          <p:nvPr/>
        </p:nvSpPr>
        <p:spPr>
          <a:xfrm>
            <a:off x="6583680" y="3566160"/>
            <a:ext cx="5029200" cy="320040"/>
          </a:xfrm>
          <a:prstGeom prst="rect">
            <a:avLst/>
          </a:prstGeom>
          <a:noFill/>
          <a:ln/>
        </p:spPr>
        <p:txBody>
          <a:bodyPr wrap="square" lIns="0" tIns="0" rIns="0" bIns="0" rtlCol="0" anchor="ctr"/>
          <a:lstStyle/>
          <a:p>
            <a:pPr marL="0" indent="0" algn="ctr">
              <a:buNone/>
            </a:pPr>
            <a:r>
              <a:rPr lang="en-US" sz="1300" b="1" dirty="0">
                <a:solidFill>
                  <a:srgbClr val="E2E8F0"/>
                </a:solidFill>
                <a:latin typeface="Calibri" pitchFamily="34" charset="0"/>
                <a:ea typeface="Calibri" pitchFamily="34" charset="-122"/>
                <a:cs typeface="Calibri" pitchFamily="34" charset="-120"/>
              </a:rPr>
              <a:t>WEATHER API  +  AI / LLM</a:t>
            </a:r>
            <a:endParaRPr lang="en-US" sz="1300" dirty="0"/>
          </a:p>
        </p:txBody>
      </p:sp>
      <p:sp>
        <p:nvSpPr>
          <p:cNvPr id="35" name="Text 33"/>
          <p:cNvSpPr/>
          <p:nvPr/>
        </p:nvSpPr>
        <p:spPr>
          <a:xfrm>
            <a:off x="6583680" y="3950208"/>
            <a:ext cx="5029200" cy="256032"/>
          </a:xfrm>
          <a:prstGeom prst="rect">
            <a:avLst/>
          </a:prstGeom>
          <a:noFill/>
          <a:ln/>
        </p:spPr>
        <p:txBody>
          <a:bodyPr wrap="square" lIns="0" tIns="0" rIns="0" bIns="0"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36" name="Shape 34"/>
          <p:cNvSpPr/>
          <p:nvPr/>
        </p:nvSpPr>
        <p:spPr>
          <a:xfrm>
            <a:off x="6583680" y="4206240"/>
            <a:ext cx="5029200" cy="502920"/>
          </a:xfrm>
          <a:prstGeom prst="roundRect">
            <a:avLst>
              <a:gd name="adj" fmla="val 10909"/>
            </a:avLst>
          </a:prstGeom>
          <a:solidFill>
            <a:srgbClr val="1E293B"/>
          </a:solidFill>
          <a:ln/>
        </p:spPr>
      </p:sp>
      <p:sp>
        <p:nvSpPr>
          <p:cNvPr id="37" name="Text 35"/>
          <p:cNvSpPr/>
          <p:nvPr/>
        </p:nvSpPr>
        <p:spPr>
          <a:xfrm>
            <a:off x="6583680" y="4297680"/>
            <a:ext cx="5029200" cy="320040"/>
          </a:xfrm>
          <a:prstGeom prst="rect">
            <a:avLst/>
          </a:prstGeom>
          <a:noFill/>
          <a:ln/>
        </p:spPr>
        <p:txBody>
          <a:bodyPr wrap="square" lIns="0" tIns="0" rIns="0" bIns="0" rtlCol="0" anchor="ctr"/>
          <a:lstStyle/>
          <a:p>
            <a:pPr marL="0" indent="0" algn="ctr">
              <a:buNone/>
            </a:pPr>
            <a:r>
              <a:rPr lang="en-US" sz="1300" b="1" dirty="0">
                <a:solidFill>
                  <a:srgbClr val="E2E8F0"/>
                </a:solidFill>
                <a:latin typeface="Calibri" pitchFamily="34" charset="0"/>
                <a:ea typeface="Calibri" pitchFamily="34" charset="-122"/>
                <a:cs typeface="Calibri" pitchFamily="34" charset="-120"/>
              </a:rPr>
              <a:t>DATABASE (MariaDB)</a:t>
            </a:r>
            <a:endParaRPr lang="en-US" sz="1300" dirty="0"/>
          </a:p>
        </p:txBody>
      </p:sp>
      <p:sp>
        <p:nvSpPr>
          <p:cNvPr id="38" name="Text 36"/>
          <p:cNvSpPr/>
          <p:nvPr/>
        </p:nvSpPr>
        <p:spPr>
          <a:xfrm>
            <a:off x="6583680" y="4681728"/>
            <a:ext cx="5029200" cy="256032"/>
          </a:xfrm>
          <a:prstGeom prst="rect">
            <a:avLst/>
          </a:prstGeom>
          <a:noFill/>
          <a:ln/>
        </p:spPr>
        <p:txBody>
          <a:bodyPr wrap="square" lIns="0" tIns="0" rIns="0" bIns="0"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39" name="Shape 37"/>
          <p:cNvSpPr/>
          <p:nvPr/>
        </p:nvSpPr>
        <p:spPr>
          <a:xfrm>
            <a:off x="6583680" y="4937760"/>
            <a:ext cx="5029200" cy="502920"/>
          </a:xfrm>
          <a:prstGeom prst="roundRect">
            <a:avLst>
              <a:gd name="adj" fmla="val 10909"/>
            </a:avLst>
          </a:prstGeom>
          <a:solidFill>
            <a:srgbClr val="0EA5E9"/>
          </a:solidFill>
          <a:ln/>
        </p:spPr>
      </p:sp>
      <p:sp>
        <p:nvSpPr>
          <p:cNvPr id="40" name="Text 38"/>
          <p:cNvSpPr/>
          <p:nvPr/>
        </p:nvSpPr>
        <p:spPr>
          <a:xfrm>
            <a:off x="6583680" y="5029200"/>
            <a:ext cx="5029200" cy="320040"/>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RESPONSE TO USER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6492240"/>
            <a:ext cx="8229600" cy="22860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WeatherGPT  |  Academic Year 2026–2027</a:t>
            </a:r>
            <a:endParaRPr lang="en-US" sz="1100" dirty="0"/>
          </a:p>
        </p:txBody>
      </p:sp>
      <p:sp>
        <p:nvSpPr>
          <p:cNvPr id="3" name="Text 1"/>
          <p:cNvSpPr/>
          <p:nvPr/>
        </p:nvSpPr>
        <p:spPr>
          <a:xfrm>
            <a:off x="10515600" y="6492240"/>
            <a:ext cx="1188720" cy="228600"/>
          </a:xfrm>
          <a:prstGeom prst="rect">
            <a:avLst/>
          </a:prstGeom>
          <a:noFill/>
          <a:ln/>
        </p:spPr>
        <p:txBody>
          <a:bodyPr wrap="square" lIns="0" tIns="0" rIns="0" bIns="0" rtlCol="0" anchor="ctr"/>
          <a:lstStyle/>
          <a:p>
            <a:pPr marL="0" indent="0" algn="r">
              <a:buNone/>
            </a:pPr>
            <a:r>
              <a:rPr lang="en-US" sz="1100" dirty="0">
                <a:solidFill>
                  <a:srgbClr val="94A3B8"/>
                </a:solidFill>
                <a:latin typeface="Calibri" pitchFamily="34" charset="0"/>
                <a:ea typeface="Calibri" pitchFamily="34" charset="-122"/>
                <a:cs typeface="Calibri" pitchFamily="34" charset="-120"/>
              </a:rPr>
              <a:t>6 / 8</a:t>
            </a:r>
            <a:endParaRPr lang="en-US" sz="1100" dirty="0"/>
          </a:p>
        </p:txBody>
      </p:sp>
      <p:sp>
        <p:nvSpPr>
          <p:cNvPr id="4" name="Text 2"/>
          <p:cNvSpPr/>
          <p:nvPr/>
        </p:nvSpPr>
        <p:spPr>
          <a:xfrm>
            <a:off x="457200" y="274320"/>
            <a:ext cx="10972800" cy="4114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Modules &amp; Database</a:t>
            </a:r>
            <a:endParaRPr lang="en-US" sz="2600" dirty="0"/>
          </a:p>
        </p:txBody>
      </p:sp>
      <p:sp>
        <p:nvSpPr>
          <p:cNvPr id="5" name="Shape 3"/>
          <p:cNvSpPr/>
          <p:nvPr/>
        </p:nvSpPr>
        <p:spPr>
          <a:xfrm>
            <a:off x="457200" y="822960"/>
            <a:ext cx="6858000" cy="685800"/>
          </a:xfrm>
          <a:prstGeom prst="roundRect">
            <a:avLst>
              <a:gd name="adj" fmla="val 8000"/>
            </a:avLst>
          </a:prstGeom>
          <a:solidFill>
            <a:srgbClr val="1E293B"/>
          </a:solidFill>
          <a:ln/>
        </p:spPr>
      </p:sp>
      <p:sp>
        <p:nvSpPr>
          <p:cNvPr id="6" name="Text 4"/>
          <p:cNvSpPr/>
          <p:nvPr/>
        </p:nvSpPr>
        <p:spPr>
          <a:xfrm>
            <a:off x="640080" y="987552"/>
            <a:ext cx="64008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01</a:t>
            </a:r>
            <a:endParaRPr lang="en-US" sz="1600" dirty="0"/>
          </a:p>
        </p:txBody>
      </p:sp>
      <p:sp>
        <p:nvSpPr>
          <p:cNvPr id="7" name="Text 5"/>
          <p:cNvSpPr/>
          <p:nvPr/>
        </p:nvSpPr>
        <p:spPr>
          <a:xfrm>
            <a:off x="1371600" y="896112"/>
            <a:ext cx="566928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User Interface Module</a:t>
            </a:r>
            <a:endParaRPr lang="en-US" sz="1500" dirty="0"/>
          </a:p>
        </p:txBody>
      </p:sp>
      <p:sp>
        <p:nvSpPr>
          <p:cNvPr id="8" name="Text 6"/>
          <p:cNvSpPr/>
          <p:nvPr/>
        </p:nvSpPr>
        <p:spPr>
          <a:xfrm>
            <a:off x="1371600" y="1188720"/>
            <a:ext cx="566928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React pages, weather cards, charts, chat interface, location search</a:t>
            </a:r>
            <a:endParaRPr lang="en-US" sz="1200" dirty="0"/>
          </a:p>
        </p:txBody>
      </p:sp>
      <p:sp>
        <p:nvSpPr>
          <p:cNvPr id="9" name="Shape 7"/>
          <p:cNvSpPr/>
          <p:nvPr/>
        </p:nvSpPr>
        <p:spPr>
          <a:xfrm>
            <a:off x="457200" y="1600200"/>
            <a:ext cx="6858000" cy="685800"/>
          </a:xfrm>
          <a:prstGeom prst="roundRect">
            <a:avLst>
              <a:gd name="adj" fmla="val 8000"/>
            </a:avLst>
          </a:prstGeom>
          <a:solidFill>
            <a:srgbClr val="1E293B"/>
          </a:solidFill>
          <a:ln/>
        </p:spPr>
      </p:sp>
      <p:sp>
        <p:nvSpPr>
          <p:cNvPr id="10" name="Text 8"/>
          <p:cNvSpPr/>
          <p:nvPr/>
        </p:nvSpPr>
        <p:spPr>
          <a:xfrm>
            <a:off x="640080" y="1764792"/>
            <a:ext cx="64008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02</a:t>
            </a:r>
            <a:endParaRPr lang="en-US" sz="1600" dirty="0"/>
          </a:p>
        </p:txBody>
      </p:sp>
      <p:sp>
        <p:nvSpPr>
          <p:cNvPr id="11" name="Text 9"/>
          <p:cNvSpPr/>
          <p:nvPr/>
        </p:nvSpPr>
        <p:spPr>
          <a:xfrm>
            <a:off x="1371600" y="1673352"/>
            <a:ext cx="566928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Weather Module</a:t>
            </a:r>
            <a:endParaRPr lang="en-US" sz="1500" dirty="0"/>
          </a:p>
        </p:txBody>
      </p:sp>
      <p:sp>
        <p:nvSpPr>
          <p:cNvPr id="12" name="Text 10"/>
          <p:cNvSpPr/>
          <p:nvPr/>
        </p:nvSpPr>
        <p:spPr>
          <a:xfrm>
            <a:off x="1371600" y="1965960"/>
            <a:ext cx="566928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Open-Meteo client – current, forecast, historical, geocoding</a:t>
            </a:r>
            <a:endParaRPr lang="en-US" sz="1200" dirty="0"/>
          </a:p>
        </p:txBody>
      </p:sp>
      <p:sp>
        <p:nvSpPr>
          <p:cNvPr id="13" name="Shape 11"/>
          <p:cNvSpPr/>
          <p:nvPr/>
        </p:nvSpPr>
        <p:spPr>
          <a:xfrm>
            <a:off x="457200" y="2377440"/>
            <a:ext cx="6858000" cy="685800"/>
          </a:xfrm>
          <a:prstGeom prst="roundRect">
            <a:avLst>
              <a:gd name="adj" fmla="val 8000"/>
            </a:avLst>
          </a:prstGeom>
          <a:solidFill>
            <a:srgbClr val="1E293B"/>
          </a:solidFill>
          <a:ln/>
        </p:spPr>
      </p:sp>
      <p:sp>
        <p:nvSpPr>
          <p:cNvPr id="14" name="Text 12"/>
          <p:cNvSpPr/>
          <p:nvPr/>
        </p:nvSpPr>
        <p:spPr>
          <a:xfrm>
            <a:off x="640080" y="2542032"/>
            <a:ext cx="64008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03</a:t>
            </a:r>
            <a:endParaRPr lang="en-US" sz="1600" dirty="0"/>
          </a:p>
        </p:txBody>
      </p:sp>
      <p:sp>
        <p:nvSpPr>
          <p:cNvPr id="15" name="Text 13"/>
          <p:cNvSpPr/>
          <p:nvPr/>
        </p:nvSpPr>
        <p:spPr>
          <a:xfrm>
            <a:off x="1371600" y="2450592"/>
            <a:ext cx="566928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AI Module</a:t>
            </a:r>
            <a:endParaRPr lang="en-US" sz="1500" dirty="0"/>
          </a:p>
        </p:txBody>
      </p:sp>
      <p:sp>
        <p:nvSpPr>
          <p:cNvPr id="16" name="Text 14"/>
          <p:cNvSpPr/>
          <p:nvPr/>
        </p:nvSpPr>
        <p:spPr>
          <a:xfrm>
            <a:off x="1371600" y="2743200"/>
            <a:ext cx="566928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Groq LLM – intent detection, entity extraction, natural responses</a:t>
            </a:r>
            <a:endParaRPr lang="en-US" sz="1200" dirty="0"/>
          </a:p>
        </p:txBody>
      </p:sp>
      <p:sp>
        <p:nvSpPr>
          <p:cNvPr id="17" name="Shape 15"/>
          <p:cNvSpPr/>
          <p:nvPr/>
        </p:nvSpPr>
        <p:spPr>
          <a:xfrm>
            <a:off x="457200" y="3154680"/>
            <a:ext cx="6858000" cy="685800"/>
          </a:xfrm>
          <a:prstGeom prst="roundRect">
            <a:avLst>
              <a:gd name="adj" fmla="val 8000"/>
            </a:avLst>
          </a:prstGeom>
          <a:solidFill>
            <a:srgbClr val="1E293B"/>
          </a:solidFill>
          <a:ln/>
        </p:spPr>
      </p:sp>
      <p:sp>
        <p:nvSpPr>
          <p:cNvPr id="18" name="Text 16"/>
          <p:cNvSpPr/>
          <p:nvPr/>
        </p:nvSpPr>
        <p:spPr>
          <a:xfrm>
            <a:off x="640080" y="3319272"/>
            <a:ext cx="64008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04</a:t>
            </a:r>
            <a:endParaRPr lang="en-US" sz="1600" dirty="0"/>
          </a:p>
        </p:txBody>
      </p:sp>
      <p:sp>
        <p:nvSpPr>
          <p:cNvPr id="19" name="Text 17"/>
          <p:cNvSpPr/>
          <p:nvPr/>
        </p:nvSpPr>
        <p:spPr>
          <a:xfrm>
            <a:off x="1371600" y="3227832"/>
            <a:ext cx="566928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Backend Module</a:t>
            </a:r>
            <a:endParaRPr lang="en-US" sz="1500" dirty="0"/>
          </a:p>
        </p:txBody>
      </p:sp>
      <p:sp>
        <p:nvSpPr>
          <p:cNvPr id="20" name="Text 18"/>
          <p:cNvSpPr/>
          <p:nvPr/>
        </p:nvSpPr>
        <p:spPr>
          <a:xfrm>
            <a:off x="1371600" y="3520440"/>
            <a:ext cx="566928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FastAPI routes, services, auth, request orchestration</a:t>
            </a:r>
            <a:endParaRPr lang="en-US" sz="1200" dirty="0"/>
          </a:p>
        </p:txBody>
      </p:sp>
      <p:sp>
        <p:nvSpPr>
          <p:cNvPr id="21" name="Shape 19"/>
          <p:cNvSpPr/>
          <p:nvPr/>
        </p:nvSpPr>
        <p:spPr>
          <a:xfrm>
            <a:off x="457200" y="3931920"/>
            <a:ext cx="6858000" cy="685800"/>
          </a:xfrm>
          <a:prstGeom prst="roundRect">
            <a:avLst>
              <a:gd name="adj" fmla="val 8000"/>
            </a:avLst>
          </a:prstGeom>
          <a:solidFill>
            <a:srgbClr val="1E293B"/>
          </a:solidFill>
          <a:ln/>
        </p:spPr>
      </p:sp>
      <p:sp>
        <p:nvSpPr>
          <p:cNvPr id="22" name="Text 20"/>
          <p:cNvSpPr/>
          <p:nvPr/>
        </p:nvSpPr>
        <p:spPr>
          <a:xfrm>
            <a:off x="640080" y="4096512"/>
            <a:ext cx="64008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05</a:t>
            </a:r>
            <a:endParaRPr lang="en-US" sz="1600" dirty="0"/>
          </a:p>
        </p:txBody>
      </p:sp>
      <p:sp>
        <p:nvSpPr>
          <p:cNvPr id="23" name="Text 21"/>
          <p:cNvSpPr/>
          <p:nvPr/>
        </p:nvSpPr>
        <p:spPr>
          <a:xfrm>
            <a:off x="1371600" y="4005072"/>
            <a:ext cx="566928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Database Module</a:t>
            </a:r>
            <a:endParaRPr lang="en-US" sz="1500" dirty="0"/>
          </a:p>
        </p:txBody>
      </p:sp>
      <p:sp>
        <p:nvSpPr>
          <p:cNvPr id="24" name="Text 22"/>
          <p:cNvSpPr/>
          <p:nvPr/>
        </p:nvSpPr>
        <p:spPr>
          <a:xfrm>
            <a:off x="1371600" y="4297680"/>
            <a:ext cx="566928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SQLAlchemy models, CRUD, session &amp; user management</a:t>
            </a:r>
            <a:endParaRPr lang="en-US" sz="1200" dirty="0"/>
          </a:p>
        </p:txBody>
      </p:sp>
      <p:sp>
        <p:nvSpPr>
          <p:cNvPr id="25" name="Shape 23"/>
          <p:cNvSpPr/>
          <p:nvPr/>
        </p:nvSpPr>
        <p:spPr>
          <a:xfrm>
            <a:off x="7589520" y="822960"/>
            <a:ext cx="4114800" cy="4846320"/>
          </a:xfrm>
          <a:prstGeom prst="roundRect">
            <a:avLst>
              <a:gd name="adj" fmla="val 2222"/>
            </a:avLst>
          </a:prstGeom>
          <a:solidFill>
            <a:srgbClr val="1E293B"/>
          </a:solidFill>
          <a:ln/>
        </p:spPr>
      </p:sp>
      <p:sp>
        <p:nvSpPr>
          <p:cNvPr id="26" name="Text 24"/>
          <p:cNvSpPr/>
          <p:nvPr/>
        </p:nvSpPr>
        <p:spPr>
          <a:xfrm>
            <a:off x="7818120" y="1051560"/>
            <a:ext cx="3657600" cy="320040"/>
          </a:xfrm>
          <a:prstGeom prst="rect">
            <a:avLst/>
          </a:prstGeom>
          <a:noFill/>
          <a:ln/>
        </p:spPr>
        <p:txBody>
          <a:bodyPr wrap="square" lIns="0" tIns="0" rIns="0" bIns="0" rtlCol="0" anchor="ctr"/>
          <a:lstStyle/>
          <a:p>
            <a:pPr marL="0" indent="0">
              <a:buNone/>
            </a:pPr>
            <a:r>
              <a:rPr lang="en-US" sz="1800" b="1" dirty="0">
                <a:solidFill>
                  <a:srgbClr val="38BDF8"/>
                </a:solidFill>
                <a:latin typeface="Calibri" pitchFamily="34" charset="0"/>
                <a:ea typeface="Calibri" pitchFamily="34" charset="-122"/>
                <a:cs typeface="Calibri" pitchFamily="34" charset="-120"/>
              </a:rPr>
              <a:t>MariaDB</a:t>
            </a:r>
            <a:endParaRPr lang="en-US" sz="1800" dirty="0"/>
          </a:p>
        </p:txBody>
      </p:sp>
      <p:sp>
        <p:nvSpPr>
          <p:cNvPr id="27" name="Text 25"/>
          <p:cNvSpPr/>
          <p:nvPr/>
        </p:nvSpPr>
        <p:spPr>
          <a:xfrm>
            <a:off x="7818120" y="1417320"/>
            <a:ext cx="3657600" cy="27432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Relational Database</a:t>
            </a:r>
            <a:endParaRPr lang="en-US" sz="1300" dirty="0"/>
          </a:p>
        </p:txBody>
      </p:sp>
      <p:sp>
        <p:nvSpPr>
          <p:cNvPr id="28" name="Text 26"/>
          <p:cNvSpPr/>
          <p:nvPr/>
        </p:nvSpPr>
        <p:spPr>
          <a:xfrm>
            <a:off x="7818120" y="1874520"/>
            <a:ext cx="3657600" cy="2743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users &amp; auth</a:t>
            </a:r>
            <a:endParaRPr lang="en-US" sz="1300" dirty="0"/>
          </a:p>
        </p:txBody>
      </p:sp>
      <p:sp>
        <p:nvSpPr>
          <p:cNvPr id="29" name="Text 27"/>
          <p:cNvSpPr/>
          <p:nvPr/>
        </p:nvSpPr>
        <p:spPr>
          <a:xfrm>
            <a:off x="7818120" y="2167128"/>
            <a:ext cx="3657600" cy="2743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user_locations</a:t>
            </a:r>
            <a:endParaRPr lang="en-US" sz="1300" dirty="0"/>
          </a:p>
        </p:txBody>
      </p:sp>
      <p:sp>
        <p:nvSpPr>
          <p:cNvPr id="30" name="Text 28"/>
          <p:cNvSpPr/>
          <p:nvPr/>
        </p:nvSpPr>
        <p:spPr>
          <a:xfrm>
            <a:off x="7818120" y="2459736"/>
            <a:ext cx="3657600" cy="2743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chat_sessions</a:t>
            </a:r>
            <a:endParaRPr lang="en-US" sz="1300" dirty="0"/>
          </a:p>
        </p:txBody>
      </p:sp>
      <p:sp>
        <p:nvSpPr>
          <p:cNvPr id="31" name="Text 29"/>
          <p:cNvSpPr/>
          <p:nvPr/>
        </p:nvSpPr>
        <p:spPr>
          <a:xfrm>
            <a:off x="7818120" y="2752344"/>
            <a:ext cx="3657600" cy="2743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chat_messages</a:t>
            </a:r>
            <a:endParaRPr lang="en-US" sz="1300" dirty="0"/>
          </a:p>
        </p:txBody>
      </p:sp>
      <p:sp>
        <p:nvSpPr>
          <p:cNvPr id="32" name="Text 30"/>
          <p:cNvSpPr/>
          <p:nvPr/>
        </p:nvSpPr>
        <p:spPr>
          <a:xfrm>
            <a:off x="7818120" y="3044952"/>
            <a:ext cx="3657600" cy="2743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weather_observations</a:t>
            </a:r>
            <a:endParaRPr lang="en-US" sz="1300" dirty="0"/>
          </a:p>
        </p:txBody>
      </p:sp>
      <p:sp>
        <p:nvSpPr>
          <p:cNvPr id="33" name="Text 31"/>
          <p:cNvSpPr/>
          <p:nvPr/>
        </p:nvSpPr>
        <p:spPr>
          <a:xfrm>
            <a:off x="7818120" y="3337560"/>
            <a:ext cx="3657600" cy="2743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weather_forecasts</a:t>
            </a:r>
            <a:endParaRPr lang="en-US" sz="1300" dirty="0"/>
          </a:p>
        </p:txBody>
      </p:sp>
      <p:sp>
        <p:nvSpPr>
          <p:cNvPr id="34" name="Text 32"/>
          <p:cNvSpPr/>
          <p:nvPr/>
        </p:nvSpPr>
        <p:spPr>
          <a:xfrm>
            <a:off x="7818120" y="3630168"/>
            <a:ext cx="3657600" cy="2743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weather_predictions</a:t>
            </a:r>
            <a:endParaRPr lang="en-US" sz="1300" dirty="0"/>
          </a:p>
        </p:txBody>
      </p:sp>
      <p:sp>
        <p:nvSpPr>
          <p:cNvPr id="35" name="Text 33"/>
          <p:cNvSpPr/>
          <p:nvPr/>
        </p:nvSpPr>
        <p:spPr>
          <a:xfrm>
            <a:off x="7818120" y="3922776"/>
            <a:ext cx="3657600" cy="2743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weather_alerts</a:t>
            </a:r>
            <a:endParaRPr lang="en-US" sz="1300" dirty="0"/>
          </a:p>
        </p:txBody>
      </p:sp>
      <p:sp>
        <p:nvSpPr>
          <p:cNvPr id="36" name="Text 34"/>
          <p:cNvSpPr/>
          <p:nvPr/>
        </p:nvSpPr>
        <p:spPr>
          <a:xfrm>
            <a:off x="7818120" y="4215384"/>
            <a:ext cx="3657600" cy="2743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historical_weather</a:t>
            </a:r>
            <a:endParaRPr lang="en-US" sz="1300" dirty="0"/>
          </a:p>
        </p:txBody>
      </p:sp>
      <p:sp>
        <p:nvSpPr>
          <p:cNvPr id="37" name="Text 35"/>
          <p:cNvSpPr/>
          <p:nvPr/>
        </p:nvSpPr>
        <p:spPr>
          <a:xfrm>
            <a:off x="7818120" y="4507992"/>
            <a:ext cx="3657600" cy="2743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search_history</a:t>
            </a:r>
            <a:endParaRPr lang="en-US" sz="1300" dirty="0"/>
          </a:p>
        </p:txBody>
      </p:sp>
      <p:sp>
        <p:nvSpPr>
          <p:cNvPr id="38" name="Text 36"/>
          <p:cNvSpPr/>
          <p:nvPr/>
        </p:nvSpPr>
        <p:spPr>
          <a:xfrm>
            <a:off x="7818120" y="4800600"/>
            <a:ext cx="3657600" cy="2743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locations</a:t>
            </a:r>
            <a:endParaRPr lang="en-US" sz="1300" dirty="0"/>
          </a:p>
        </p:txBody>
      </p:sp>
      <p:sp>
        <p:nvSpPr>
          <p:cNvPr id="39" name="Text 37"/>
          <p:cNvSpPr/>
          <p:nvPr/>
        </p:nvSpPr>
        <p:spPr>
          <a:xfrm>
            <a:off x="7818120" y="5093208"/>
            <a:ext cx="3657600" cy="2743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user_queries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6492240"/>
            <a:ext cx="8229600" cy="22860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WeatherGPT  |  Academic Year 2026–2027</a:t>
            </a:r>
            <a:endParaRPr lang="en-US" sz="1100" dirty="0"/>
          </a:p>
        </p:txBody>
      </p:sp>
      <p:sp>
        <p:nvSpPr>
          <p:cNvPr id="3" name="Text 1"/>
          <p:cNvSpPr/>
          <p:nvPr/>
        </p:nvSpPr>
        <p:spPr>
          <a:xfrm>
            <a:off x="10515600" y="6492240"/>
            <a:ext cx="1188720" cy="228600"/>
          </a:xfrm>
          <a:prstGeom prst="rect">
            <a:avLst/>
          </a:prstGeom>
          <a:noFill/>
          <a:ln/>
        </p:spPr>
        <p:txBody>
          <a:bodyPr wrap="square" lIns="0" tIns="0" rIns="0" bIns="0" rtlCol="0" anchor="ctr"/>
          <a:lstStyle/>
          <a:p>
            <a:pPr marL="0" indent="0" algn="r">
              <a:buNone/>
            </a:pPr>
            <a:r>
              <a:rPr lang="en-US" sz="1100" dirty="0">
                <a:solidFill>
                  <a:srgbClr val="94A3B8"/>
                </a:solidFill>
                <a:latin typeface="Calibri" pitchFamily="34" charset="0"/>
                <a:ea typeface="Calibri" pitchFamily="34" charset="-122"/>
                <a:cs typeface="Calibri" pitchFamily="34" charset="-120"/>
              </a:rPr>
              <a:t>7 / 8</a:t>
            </a:r>
            <a:endParaRPr lang="en-US" sz="1100" dirty="0"/>
          </a:p>
        </p:txBody>
      </p:sp>
      <p:sp>
        <p:nvSpPr>
          <p:cNvPr id="4" name="Text 2"/>
          <p:cNvSpPr/>
          <p:nvPr/>
        </p:nvSpPr>
        <p:spPr>
          <a:xfrm>
            <a:off x="457200" y="274320"/>
            <a:ext cx="10972800" cy="4114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Implementation, Testing &amp; Results</a:t>
            </a:r>
            <a:endParaRPr lang="en-US" sz="2600" dirty="0"/>
          </a:p>
        </p:txBody>
      </p:sp>
      <p:sp>
        <p:nvSpPr>
          <p:cNvPr id="5" name="Shape 3"/>
          <p:cNvSpPr/>
          <p:nvPr/>
        </p:nvSpPr>
        <p:spPr>
          <a:xfrm>
            <a:off x="457200" y="868680"/>
            <a:ext cx="3749040" cy="5029200"/>
          </a:xfrm>
          <a:prstGeom prst="roundRect">
            <a:avLst>
              <a:gd name="adj" fmla="val 2439"/>
            </a:avLst>
          </a:prstGeom>
          <a:solidFill>
            <a:srgbClr val="1E293B"/>
          </a:solidFill>
          <a:ln/>
        </p:spPr>
      </p:sp>
      <p:sp>
        <p:nvSpPr>
          <p:cNvPr id="6" name="Text 4"/>
          <p:cNvSpPr/>
          <p:nvPr/>
        </p:nvSpPr>
        <p:spPr>
          <a:xfrm>
            <a:off x="685800" y="1051560"/>
            <a:ext cx="3291840" cy="320040"/>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IMPLEMENTATION</a:t>
            </a:r>
            <a:endParaRPr lang="en-US" sz="1300" dirty="0"/>
          </a:p>
        </p:txBody>
      </p:sp>
      <p:sp>
        <p:nvSpPr>
          <p:cNvPr id="7" name="Text 5"/>
          <p:cNvSpPr/>
          <p:nvPr/>
        </p:nvSpPr>
        <p:spPr>
          <a:xfrm>
            <a:off x="685800" y="1554480"/>
            <a:ext cx="3291840" cy="5029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1.  User enters location or weather query</a:t>
            </a:r>
            <a:endParaRPr lang="en-US" sz="1300" dirty="0"/>
          </a:p>
        </p:txBody>
      </p:sp>
      <p:sp>
        <p:nvSpPr>
          <p:cNvPr id="8" name="Text 6"/>
          <p:cNvSpPr/>
          <p:nvPr/>
        </p:nvSpPr>
        <p:spPr>
          <a:xfrm>
            <a:off x="685800" y="2103120"/>
            <a:ext cx="3291840" cy="5029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2.  Backend (FastAPI) processes the request</a:t>
            </a:r>
            <a:endParaRPr lang="en-US" sz="1300" dirty="0"/>
          </a:p>
        </p:txBody>
      </p:sp>
      <p:sp>
        <p:nvSpPr>
          <p:cNvPr id="9" name="Text 7"/>
          <p:cNvSpPr/>
          <p:nvPr/>
        </p:nvSpPr>
        <p:spPr>
          <a:xfrm>
            <a:off x="685800" y="2651760"/>
            <a:ext cx="3291840" cy="5029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3.  Open-Meteo returns weather data</a:t>
            </a:r>
            <a:endParaRPr lang="en-US" sz="1300" dirty="0"/>
          </a:p>
        </p:txBody>
      </p:sp>
      <p:sp>
        <p:nvSpPr>
          <p:cNvPr id="10" name="Text 8"/>
          <p:cNvSpPr/>
          <p:nvPr/>
        </p:nvSpPr>
        <p:spPr>
          <a:xfrm>
            <a:off x="685800" y="3200400"/>
            <a:ext cx="3291840" cy="5029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4.  XGBoost models generate predictions</a:t>
            </a:r>
            <a:endParaRPr lang="en-US" sz="1300" dirty="0"/>
          </a:p>
        </p:txBody>
      </p:sp>
      <p:sp>
        <p:nvSpPr>
          <p:cNvPr id="11" name="Text 9"/>
          <p:cNvSpPr/>
          <p:nvPr/>
        </p:nvSpPr>
        <p:spPr>
          <a:xfrm>
            <a:off x="685800" y="3749040"/>
            <a:ext cx="3291840" cy="5029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5.  Groq LLM builds natural response</a:t>
            </a:r>
            <a:endParaRPr lang="en-US" sz="1300" dirty="0"/>
          </a:p>
        </p:txBody>
      </p:sp>
      <p:sp>
        <p:nvSpPr>
          <p:cNvPr id="12" name="Text 10"/>
          <p:cNvSpPr/>
          <p:nvPr/>
        </p:nvSpPr>
        <p:spPr>
          <a:xfrm>
            <a:off x="685800" y="4297680"/>
            <a:ext cx="3291840" cy="5029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6.  MariaDB stores sessions &amp; history</a:t>
            </a:r>
            <a:endParaRPr lang="en-US" sz="1300" dirty="0"/>
          </a:p>
        </p:txBody>
      </p:sp>
      <p:sp>
        <p:nvSpPr>
          <p:cNvPr id="13" name="Text 11"/>
          <p:cNvSpPr/>
          <p:nvPr/>
        </p:nvSpPr>
        <p:spPr>
          <a:xfrm>
            <a:off x="685800" y="4846320"/>
            <a:ext cx="3291840" cy="5029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7.  Results shown on React dashboard</a:t>
            </a:r>
            <a:endParaRPr lang="en-US" sz="1300" dirty="0"/>
          </a:p>
        </p:txBody>
      </p:sp>
      <p:sp>
        <p:nvSpPr>
          <p:cNvPr id="14" name="Shape 12"/>
          <p:cNvSpPr/>
          <p:nvPr/>
        </p:nvSpPr>
        <p:spPr>
          <a:xfrm>
            <a:off x="4434840" y="868680"/>
            <a:ext cx="3749040" cy="5029200"/>
          </a:xfrm>
          <a:prstGeom prst="roundRect">
            <a:avLst>
              <a:gd name="adj" fmla="val 2439"/>
            </a:avLst>
          </a:prstGeom>
          <a:solidFill>
            <a:srgbClr val="1E293B"/>
          </a:solidFill>
          <a:ln/>
        </p:spPr>
      </p:sp>
      <p:sp>
        <p:nvSpPr>
          <p:cNvPr id="15" name="Text 13"/>
          <p:cNvSpPr/>
          <p:nvPr/>
        </p:nvSpPr>
        <p:spPr>
          <a:xfrm>
            <a:off x="4663440" y="1051560"/>
            <a:ext cx="3291840" cy="320040"/>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TESTING</a:t>
            </a:r>
            <a:endParaRPr lang="en-US" sz="1300" dirty="0"/>
          </a:p>
        </p:txBody>
      </p:sp>
      <p:sp>
        <p:nvSpPr>
          <p:cNvPr id="16" name="Text 14"/>
          <p:cNvSpPr/>
          <p:nvPr/>
        </p:nvSpPr>
        <p:spPr>
          <a:xfrm>
            <a:off x="4663440" y="1554480"/>
            <a:ext cx="3291840" cy="5029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Valid / invalid location testing</a:t>
            </a:r>
            <a:endParaRPr lang="en-US" sz="1300" dirty="0"/>
          </a:p>
        </p:txBody>
      </p:sp>
      <p:sp>
        <p:nvSpPr>
          <p:cNvPr id="17" name="Text 15"/>
          <p:cNvSpPr/>
          <p:nvPr/>
        </p:nvSpPr>
        <p:spPr>
          <a:xfrm>
            <a:off x="4663440" y="2103120"/>
            <a:ext cx="3291840" cy="5029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Weather API endpoint testing</a:t>
            </a:r>
            <a:endParaRPr lang="en-US" sz="1300" dirty="0"/>
          </a:p>
        </p:txBody>
      </p:sp>
      <p:sp>
        <p:nvSpPr>
          <p:cNvPr id="18" name="Text 16"/>
          <p:cNvSpPr/>
          <p:nvPr/>
        </p:nvSpPr>
        <p:spPr>
          <a:xfrm>
            <a:off x="4663440" y="2651760"/>
            <a:ext cx="3291840" cy="5029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Database connection testing</a:t>
            </a:r>
            <a:endParaRPr lang="en-US" sz="1300" dirty="0"/>
          </a:p>
        </p:txBody>
      </p:sp>
      <p:sp>
        <p:nvSpPr>
          <p:cNvPr id="19" name="Text 17"/>
          <p:cNvSpPr/>
          <p:nvPr/>
        </p:nvSpPr>
        <p:spPr>
          <a:xfrm>
            <a:off x="4663440" y="3200400"/>
            <a:ext cx="3291840" cy="5029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AI / chat request testing</a:t>
            </a:r>
            <a:endParaRPr lang="en-US" sz="1300" dirty="0"/>
          </a:p>
        </p:txBody>
      </p:sp>
      <p:sp>
        <p:nvSpPr>
          <p:cNvPr id="20" name="Text 18"/>
          <p:cNvSpPr/>
          <p:nvPr/>
        </p:nvSpPr>
        <p:spPr>
          <a:xfrm>
            <a:off x="4663440" y="3749040"/>
            <a:ext cx="3291840" cy="5029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Input validation checks</a:t>
            </a:r>
            <a:endParaRPr lang="en-US" sz="1300" dirty="0"/>
          </a:p>
        </p:txBody>
      </p:sp>
      <p:sp>
        <p:nvSpPr>
          <p:cNvPr id="21" name="Text 19"/>
          <p:cNvSpPr/>
          <p:nvPr/>
        </p:nvSpPr>
        <p:spPr>
          <a:xfrm>
            <a:off x="4663440" y="4297680"/>
            <a:ext cx="3291840" cy="5029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Error handling verification</a:t>
            </a:r>
            <a:endParaRPr lang="en-US" sz="1300" dirty="0"/>
          </a:p>
        </p:txBody>
      </p:sp>
      <p:sp>
        <p:nvSpPr>
          <p:cNvPr id="22" name="Text 20"/>
          <p:cNvSpPr/>
          <p:nvPr/>
        </p:nvSpPr>
        <p:spPr>
          <a:xfrm>
            <a:off x="4663440" y="4846320"/>
            <a:ext cx="3291840" cy="5029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UI &amp; dashboard testing</a:t>
            </a:r>
            <a:endParaRPr lang="en-US" sz="1300" dirty="0"/>
          </a:p>
        </p:txBody>
      </p:sp>
      <p:sp>
        <p:nvSpPr>
          <p:cNvPr id="23" name="Shape 21"/>
          <p:cNvSpPr/>
          <p:nvPr/>
        </p:nvSpPr>
        <p:spPr>
          <a:xfrm>
            <a:off x="8412480" y="868680"/>
            <a:ext cx="3383280" cy="5029200"/>
          </a:xfrm>
          <a:prstGeom prst="roundRect">
            <a:avLst>
              <a:gd name="adj" fmla="val 2703"/>
            </a:avLst>
          </a:prstGeom>
          <a:solidFill>
            <a:srgbClr val="1E293B"/>
          </a:solidFill>
          <a:ln/>
        </p:spPr>
      </p:sp>
      <p:sp>
        <p:nvSpPr>
          <p:cNvPr id="24" name="Text 22"/>
          <p:cNvSpPr/>
          <p:nvPr/>
        </p:nvSpPr>
        <p:spPr>
          <a:xfrm>
            <a:off x="8641080" y="1051560"/>
            <a:ext cx="2926080" cy="320040"/>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RESULTS</a:t>
            </a:r>
            <a:endParaRPr lang="en-US" sz="1300" dirty="0"/>
          </a:p>
        </p:txBody>
      </p:sp>
      <p:sp>
        <p:nvSpPr>
          <p:cNvPr id="25" name="Text 23"/>
          <p:cNvSpPr/>
          <p:nvPr/>
        </p:nvSpPr>
        <p:spPr>
          <a:xfrm>
            <a:off x="8641080" y="1554480"/>
            <a:ext cx="2926080" cy="59436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Weather data retrieved and displayed successfully</a:t>
            </a:r>
            <a:endParaRPr lang="en-US" sz="1300" dirty="0"/>
          </a:p>
        </p:txBody>
      </p:sp>
      <p:sp>
        <p:nvSpPr>
          <p:cNvPr id="26" name="Text 24"/>
          <p:cNvSpPr/>
          <p:nvPr/>
        </p:nvSpPr>
        <p:spPr>
          <a:xfrm>
            <a:off x="8641080" y="2194560"/>
            <a:ext cx="2926080" cy="59436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Natural-language chat works end-to-end</a:t>
            </a:r>
            <a:endParaRPr lang="en-US" sz="1300" dirty="0"/>
          </a:p>
        </p:txBody>
      </p:sp>
      <p:sp>
        <p:nvSpPr>
          <p:cNvPr id="27" name="Text 25"/>
          <p:cNvSpPr/>
          <p:nvPr/>
        </p:nvSpPr>
        <p:spPr>
          <a:xfrm>
            <a:off x="8641080" y="2834640"/>
            <a:ext cx="2926080" cy="59436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ML predictions integrated into responses</a:t>
            </a:r>
            <a:endParaRPr lang="en-US" sz="1300" dirty="0"/>
          </a:p>
        </p:txBody>
      </p:sp>
      <p:sp>
        <p:nvSpPr>
          <p:cNvPr id="28" name="Text 26"/>
          <p:cNvSpPr/>
          <p:nvPr/>
        </p:nvSpPr>
        <p:spPr>
          <a:xfrm>
            <a:off x="8641080" y="3474720"/>
            <a:ext cx="2926080" cy="59436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User auth &amp; sessions functional</a:t>
            </a:r>
            <a:endParaRPr lang="en-US" sz="1300" dirty="0"/>
          </a:p>
        </p:txBody>
      </p:sp>
      <p:sp>
        <p:nvSpPr>
          <p:cNvPr id="29" name="Text 27"/>
          <p:cNvSpPr/>
          <p:nvPr/>
        </p:nvSpPr>
        <p:spPr>
          <a:xfrm>
            <a:off x="8641080" y="4114800"/>
            <a:ext cx="2926080" cy="59436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Database persists all key entities</a:t>
            </a:r>
            <a:endParaRPr lang="en-US" sz="1300" dirty="0"/>
          </a:p>
        </p:txBody>
      </p:sp>
      <p:sp>
        <p:nvSpPr>
          <p:cNvPr id="30" name="Text 28"/>
          <p:cNvSpPr/>
          <p:nvPr/>
        </p:nvSpPr>
        <p:spPr>
          <a:xfrm>
            <a:off x="8641080" y="4754880"/>
            <a:ext cx="2926080" cy="59436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  Interactive dashboard is responsive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6492240"/>
            <a:ext cx="8229600" cy="22860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WeatherGPT  |  Academic Year 2026–2027</a:t>
            </a:r>
            <a:endParaRPr lang="en-US" sz="1100" dirty="0"/>
          </a:p>
        </p:txBody>
      </p:sp>
      <p:sp>
        <p:nvSpPr>
          <p:cNvPr id="3" name="Text 1"/>
          <p:cNvSpPr/>
          <p:nvPr/>
        </p:nvSpPr>
        <p:spPr>
          <a:xfrm>
            <a:off x="10515600" y="6492240"/>
            <a:ext cx="1188720" cy="228600"/>
          </a:xfrm>
          <a:prstGeom prst="rect">
            <a:avLst/>
          </a:prstGeom>
          <a:noFill/>
          <a:ln/>
        </p:spPr>
        <p:txBody>
          <a:bodyPr wrap="square" lIns="0" tIns="0" rIns="0" bIns="0" rtlCol="0" anchor="ctr"/>
          <a:lstStyle/>
          <a:p>
            <a:pPr marL="0" indent="0" algn="r">
              <a:buNone/>
            </a:pPr>
            <a:r>
              <a:rPr lang="en-US" sz="1100" dirty="0">
                <a:solidFill>
                  <a:srgbClr val="94A3B8"/>
                </a:solidFill>
                <a:latin typeface="Calibri" pitchFamily="34" charset="0"/>
                <a:ea typeface="Calibri" pitchFamily="34" charset="-122"/>
                <a:cs typeface="Calibri" pitchFamily="34" charset="-120"/>
              </a:rPr>
              <a:t>8 / 8</a:t>
            </a:r>
            <a:endParaRPr lang="en-US" sz="1100" dirty="0"/>
          </a:p>
        </p:txBody>
      </p:sp>
      <p:sp>
        <p:nvSpPr>
          <p:cNvPr id="4" name="Text 2"/>
          <p:cNvSpPr/>
          <p:nvPr/>
        </p:nvSpPr>
        <p:spPr>
          <a:xfrm>
            <a:off x="457200" y="274320"/>
            <a:ext cx="10972800" cy="4114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Conclusion &amp; Future Scope</a:t>
            </a:r>
            <a:endParaRPr lang="en-US" sz="2600" dirty="0"/>
          </a:p>
        </p:txBody>
      </p:sp>
      <p:sp>
        <p:nvSpPr>
          <p:cNvPr id="5" name="Shape 3"/>
          <p:cNvSpPr/>
          <p:nvPr/>
        </p:nvSpPr>
        <p:spPr>
          <a:xfrm>
            <a:off x="457200" y="868680"/>
            <a:ext cx="5577840" cy="5029200"/>
          </a:xfrm>
          <a:prstGeom prst="roundRect">
            <a:avLst>
              <a:gd name="adj" fmla="val 1818"/>
            </a:avLst>
          </a:prstGeom>
          <a:solidFill>
            <a:srgbClr val="1E293B"/>
          </a:solidFill>
          <a:ln/>
        </p:spPr>
      </p:sp>
      <p:sp>
        <p:nvSpPr>
          <p:cNvPr id="6" name="Text 4"/>
          <p:cNvSpPr/>
          <p:nvPr/>
        </p:nvSpPr>
        <p:spPr>
          <a:xfrm>
            <a:off x="731520" y="1097280"/>
            <a:ext cx="5029200" cy="320040"/>
          </a:xfrm>
          <a:prstGeom prst="rect">
            <a:avLst/>
          </a:prstGeom>
          <a:noFill/>
          <a:ln/>
        </p:spPr>
        <p:txBody>
          <a:bodyPr wrap="square" lIns="0" tIns="0" rIns="0" bIns="0" rtlCol="0" anchor="ctr"/>
          <a:lstStyle/>
          <a:p>
            <a:pPr marL="0" indent="0">
              <a:buNone/>
            </a:pPr>
            <a:r>
              <a:rPr lang="en-US" sz="1400" b="1" dirty="0">
                <a:solidFill>
                  <a:srgbClr val="38BDF8"/>
                </a:solidFill>
                <a:latin typeface="Calibri" pitchFamily="34" charset="0"/>
                <a:ea typeface="Calibri" pitchFamily="34" charset="-122"/>
                <a:cs typeface="Calibri" pitchFamily="34" charset="-120"/>
              </a:rPr>
              <a:t>CONCLUSION</a:t>
            </a:r>
            <a:endParaRPr lang="en-US" sz="1400" dirty="0"/>
          </a:p>
        </p:txBody>
      </p:sp>
      <p:sp>
        <p:nvSpPr>
          <p:cNvPr id="7" name="Text 5"/>
          <p:cNvSpPr/>
          <p:nvPr/>
        </p:nvSpPr>
        <p:spPr>
          <a:xfrm>
            <a:off x="731520" y="1645920"/>
            <a:ext cx="5029200" cy="73152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  WeatherGPT integrates weather APIs, AI, web technologies, and MariaDB into one platform.</a:t>
            </a:r>
            <a:endParaRPr lang="en-US" sz="1400" dirty="0"/>
          </a:p>
        </p:txBody>
      </p:sp>
      <p:sp>
        <p:nvSpPr>
          <p:cNvPr id="8" name="Text 6"/>
          <p:cNvSpPr/>
          <p:nvPr/>
        </p:nvSpPr>
        <p:spPr>
          <a:xfrm>
            <a:off x="731520" y="2423160"/>
            <a:ext cx="5029200" cy="73152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  Provides an interactive system for accessing accurate weather information.</a:t>
            </a:r>
            <a:endParaRPr lang="en-US" sz="1400" dirty="0"/>
          </a:p>
        </p:txBody>
      </p:sp>
      <p:sp>
        <p:nvSpPr>
          <p:cNvPr id="9" name="Text 7"/>
          <p:cNvSpPr/>
          <p:nvPr/>
        </p:nvSpPr>
        <p:spPr>
          <a:xfrm>
            <a:off x="731520" y="3200400"/>
            <a:ext cx="5029200" cy="73152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  Demonstrates practical end-to-end integration of multiple software components.</a:t>
            </a:r>
            <a:endParaRPr lang="en-US" sz="1400" dirty="0"/>
          </a:p>
        </p:txBody>
      </p:sp>
      <p:sp>
        <p:nvSpPr>
          <p:cNvPr id="10" name="Text 8"/>
          <p:cNvSpPr/>
          <p:nvPr/>
        </p:nvSpPr>
        <p:spPr>
          <a:xfrm>
            <a:off x="731520" y="3977640"/>
            <a:ext cx="5029200" cy="73152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  LLM responses are always grounded in real data and local ML predictions.</a:t>
            </a:r>
            <a:endParaRPr lang="en-US" sz="1400" dirty="0"/>
          </a:p>
        </p:txBody>
      </p:sp>
      <p:sp>
        <p:nvSpPr>
          <p:cNvPr id="11" name="Text 9"/>
          <p:cNvSpPr/>
          <p:nvPr/>
        </p:nvSpPr>
        <p:spPr>
          <a:xfrm>
            <a:off x="731520" y="4754880"/>
            <a:ext cx="5029200" cy="73152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  Forms a solid foundation for an intelligent weather assistant.</a:t>
            </a:r>
            <a:endParaRPr lang="en-US" sz="1400" dirty="0"/>
          </a:p>
        </p:txBody>
      </p:sp>
      <p:sp>
        <p:nvSpPr>
          <p:cNvPr id="12" name="Shape 10"/>
          <p:cNvSpPr/>
          <p:nvPr/>
        </p:nvSpPr>
        <p:spPr>
          <a:xfrm>
            <a:off x="6309360" y="868680"/>
            <a:ext cx="5394960" cy="5029200"/>
          </a:xfrm>
          <a:prstGeom prst="roundRect">
            <a:avLst>
              <a:gd name="adj" fmla="val 1818"/>
            </a:avLst>
          </a:prstGeom>
          <a:solidFill>
            <a:srgbClr val="1E293B"/>
          </a:solidFill>
          <a:ln/>
        </p:spPr>
      </p:sp>
      <p:sp>
        <p:nvSpPr>
          <p:cNvPr id="13" name="Text 11"/>
          <p:cNvSpPr/>
          <p:nvPr/>
        </p:nvSpPr>
        <p:spPr>
          <a:xfrm>
            <a:off x="6583680" y="1097280"/>
            <a:ext cx="4937760" cy="320040"/>
          </a:xfrm>
          <a:prstGeom prst="rect">
            <a:avLst/>
          </a:prstGeom>
          <a:noFill/>
          <a:ln/>
        </p:spPr>
        <p:txBody>
          <a:bodyPr wrap="square" lIns="0" tIns="0" rIns="0" bIns="0" rtlCol="0" anchor="ctr"/>
          <a:lstStyle/>
          <a:p>
            <a:pPr marL="0" indent="0">
              <a:buNone/>
            </a:pPr>
            <a:r>
              <a:rPr lang="en-US" sz="1400" b="1" dirty="0">
                <a:solidFill>
                  <a:srgbClr val="38BDF8"/>
                </a:solidFill>
                <a:latin typeface="Calibri" pitchFamily="34" charset="0"/>
                <a:ea typeface="Calibri" pitchFamily="34" charset="-122"/>
                <a:cs typeface="Calibri" pitchFamily="34" charset="-120"/>
              </a:rPr>
              <a:t>FUTURE SCOPE</a:t>
            </a:r>
            <a:endParaRPr lang="en-US" sz="1400" dirty="0"/>
          </a:p>
        </p:txBody>
      </p:sp>
      <p:sp>
        <p:nvSpPr>
          <p:cNvPr id="14" name="Text 12"/>
          <p:cNvSpPr/>
          <p:nvPr/>
        </p:nvSpPr>
        <p:spPr>
          <a:xfrm>
            <a:off x="6583680" y="1600200"/>
            <a:ext cx="4937760" cy="45720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  Mobile application (Android / iOS)</a:t>
            </a:r>
            <a:endParaRPr lang="en-US" sz="1400" dirty="0"/>
          </a:p>
        </p:txBody>
      </p:sp>
      <p:sp>
        <p:nvSpPr>
          <p:cNvPr id="15" name="Text 13"/>
          <p:cNvSpPr/>
          <p:nvPr/>
        </p:nvSpPr>
        <p:spPr>
          <a:xfrm>
            <a:off x="6583680" y="2103120"/>
            <a:ext cx="4937760" cy="45720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  Voice-based interaction</a:t>
            </a:r>
            <a:endParaRPr lang="en-US" sz="1400" dirty="0"/>
          </a:p>
        </p:txBody>
      </p:sp>
      <p:sp>
        <p:nvSpPr>
          <p:cNvPr id="16" name="Text 14"/>
          <p:cNvSpPr/>
          <p:nvPr/>
        </p:nvSpPr>
        <p:spPr>
          <a:xfrm>
            <a:off x="6583680" y="2606040"/>
            <a:ext cx="4937760" cy="45720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  Multilingual support</a:t>
            </a:r>
            <a:endParaRPr lang="en-US" sz="1400" dirty="0"/>
          </a:p>
        </p:txBody>
      </p:sp>
      <p:sp>
        <p:nvSpPr>
          <p:cNvPr id="17" name="Text 15"/>
          <p:cNvSpPr/>
          <p:nvPr/>
        </p:nvSpPr>
        <p:spPr>
          <a:xfrm>
            <a:off x="6583680" y="3108960"/>
            <a:ext cx="4937760" cy="45720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  Severe-weather notifications &amp; alerts</a:t>
            </a:r>
            <a:endParaRPr lang="en-US" sz="1400" dirty="0"/>
          </a:p>
        </p:txBody>
      </p:sp>
      <p:sp>
        <p:nvSpPr>
          <p:cNvPr id="18" name="Text 16"/>
          <p:cNvSpPr/>
          <p:nvPr/>
        </p:nvSpPr>
        <p:spPr>
          <a:xfrm>
            <a:off x="6583680" y="3611880"/>
            <a:ext cx="4937760" cy="45720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  Personalized weather recommendations</a:t>
            </a:r>
            <a:endParaRPr lang="en-US" sz="1400" dirty="0"/>
          </a:p>
        </p:txBody>
      </p:sp>
      <p:sp>
        <p:nvSpPr>
          <p:cNvPr id="19" name="Text 17"/>
          <p:cNvSpPr/>
          <p:nvPr/>
        </p:nvSpPr>
        <p:spPr>
          <a:xfrm>
            <a:off x="6583680" y="4114800"/>
            <a:ext cx="4937760" cy="45720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  Historical weather analytics dashboard</a:t>
            </a:r>
            <a:endParaRPr lang="en-US" sz="1400" dirty="0"/>
          </a:p>
        </p:txBody>
      </p:sp>
      <p:sp>
        <p:nvSpPr>
          <p:cNvPr id="20" name="Text 18"/>
          <p:cNvSpPr/>
          <p:nvPr/>
        </p:nvSpPr>
        <p:spPr>
          <a:xfrm>
            <a:off x="6583680" y="4617720"/>
            <a:ext cx="4937760" cy="45720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  Cloud deployment (Docker / cloud)</a:t>
            </a:r>
            <a:endParaRPr lang="en-US" sz="1400" dirty="0"/>
          </a:p>
        </p:txBody>
      </p:sp>
      <p:sp>
        <p:nvSpPr>
          <p:cNvPr id="21" name="Text 19"/>
          <p:cNvSpPr/>
          <p:nvPr/>
        </p:nvSpPr>
        <p:spPr>
          <a:xfrm>
            <a:off x="6583680" y="5120640"/>
            <a:ext cx="4937760" cy="45720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  Advanced AI capabilities &amp; IMD integration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WeatherGPT — Project Presentation</dc:title>
  <dc:subject>AI-Powered Weather Information and Intelligence System</dc:subject>
  <dc:creator>WeatherGPT Team</dc:creator>
  <cp:lastModifiedBy>WeatherGPT Team</cp:lastModifiedBy>
  <cp:revision>2</cp:revision>
  <dcterms:created xsi:type="dcterms:W3CDTF">2026-09-30T05:51:23Z</dcterms:created>
  <dcterms:modified xsi:type="dcterms:W3CDTF">2026-09-30T07:07:00Z</dcterms:modified>
</cp:coreProperties>
</file>